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268"/>
    <p:restoredTop sz="94658"/>
  </p:normalViewPr>
  <p:slideViewPr>
    <p:cSldViewPr snapToGrid="0" snapToObjects="1">
      <p:cViewPr>
        <p:scale>
          <a:sx n="62" d="100"/>
          <a:sy n="62" d="100"/>
        </p:scale>
        <p:origin x="2432" y="144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9/17/26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pic>
        <p:nvPicPr>
          <p:cNvPr id="2" name="Picture 1" descr="hero-cover.jpg"/>
          <p:cNvPicPr>
            <a:picLocks noChangeAspect="1"/>
          </p:cNvPicPr>
          <p:nvPr/>
        </p:nvPicPr>
        <p:blipFill>
          <a:blip r:embed="rId2"/>
          <a:stretch>
            <a:fillRect/>
          </a:stretch>
        </p:blipFill>
        <p:spPr>
          <a:xfrm>
            <a:off x="305" y="1016676"/>
            <a:ext cx="12191695" cy="7346034"/>
          </a:xfrm>
          <a:prstGeom prst="rect">
            <a:avLst/>
          </a:prstGeom>
        </p:spPr>
      </p:pic>
      <p:sp>
        <p:nvSpPr>
          <p:cNvPr id="3" name="Rectangle 2"/>
          <p:cNvSpPr/>
          <p:nvPr/>
        </p:nvSpPr>
        <p:spPr>
          <a:xfrm>
            <a:off x="1112520" y="0"/>
            <a:ext cx="9966960" cy="3470467"/>
          </a:xfrm>
          <a:prstGeom prst="rect">
            <a:avLst/>
          </a:prstGeom>
          <a:solidFill>
            <a:srgbClr val="0F172A"/>
          </a:solidFill>
          <a:ln w="19050">
            <a:noFill/>
          </a:ln>
        </p:spPr>
        <p:style>
          <a:lnRef idx="1">
            <a:schemeClr val="accent1"/>
          </a:lnRef>
          <a:fillRef idx="3">
            <a:schemeClr val="accent1"/>
          </a:fillRef>
          <a:effectRef idx="2">
            <a:schemeClr val="accent1"/>
          </a:effectRef>
          <a:fontRef idx="minor">
            <a:schemeClr val="lt1"/>
          </a:fontRef>
        </p:style>
        <p:txBody>
          <a:bodyPr wrap="square" lIns="640080" tIns="640080" rIns="640080" rtlCol="0" anchor="ctr"/>
          <a:lstStyle/>
          <a:p>
            <a:pPr algn="ctr">
              <a:defRPr sz="1200" b="1">
                <a:solidFill>
                  <a:srgbClr val="38BDF8"/>
                </a:solidFill>
                <a:latin typeface="Arial"/>
              </a:defRPr>
            </a:pPr>
            <a:r>
              <a:rPr dirty="0"/>
              <a:t>TRAVELFRAME HANOI — CHƯƠNG TRÌNH HỢP TÁC DOANH NGHIỆP 2026</a:t>
            </a:r>
          </a:p>
          <a:p>
            <a:pPr algn="ctr">
              <a:spcBef>
                <a:spcPts val="1200"/>
              </a:spcBef>
              <a:defRPr sz="2700" b="1">
                <a:solidFill>
                  <a:srgbClr val="FFFFFF"/>
                </a:solidFill>
                <a:latin typeface="Arial"/>
              </a:defRPr>
            </a:pPr>
            <a:r>
              <a:rPr dirty="0" err="1"/>
              <a:t>Hồ</a:t>
            </a:r>
            <a:r>
              <a:rPr dirty="0"/>
              <a:t> </a:t>
            </a:r>
            <a:r>
              <a:rPr dirty="0" err="1"/>
              <a:t>Sơ</a:t>
            </a:r>
            <a:r>
              <a:rPr dirty="0"/>
              <a:t> </a:t>
            </a:r>
            <a:r>
              <a:rPr dirty="0" err="1"/>
              <a:t>Năng</a:t>
            </a:r>
            <a:r>
              <a:rPr dirty="0"/>
              <a:t> Lực </a:t>
            </a:r>
            <a:r>
              <a:rPr dirty="0" err="1"/>
              <a:t>Truyền</a:t>
            </a:r>
            <a:r>
              <a:rPr dirty="0"/>
              <a:t> Thông (Media Kit)</a:t>
            </a:r>
            <a:br>
              <a:rPr dirty="0"/>
            </a:br>
            <a:r>
              <a:rPr dirty="0"/>
              <a:t>&amp; </a:t>
            </a:r>
            <a:r>
              <a:rPr dirty="0" err="1"/>
              <a:t>Đề</a:t>
            </a:r>
            <a:r>
              <a:rPr dirty="0"/>
              <a:t> </a:t>
            </a:r>
            <a:r>
              <a:rPr dirty="0" err="1"/>
              <a:t>Xuất</a:t>
            </a:r>
            <a:r>
              <a:rPr dirty="0"/>
              <a:t> </a:t>
            </a:r>
            <a:r>
              <a:rPr dirty="0" err="1"/>
              <a:t>Hợp</a:t>
            </a:r>
            <a:r>
              <a:rPr dirty="0"/>
              <a:t> </a:t>
            </a:r>
            <a:r>
              <a:rPr dirty="0" err="1"/>
              <a:t>Tác</a:t>
            </a:r>
            <a:r>
              <a:rPr dirty="0"/>
              <a:t> B2B </a:t>
            </a:r>
            <a:r>
              <a:rPr dirty="0" err="1"/>
              <a:t>Phát</a:t>
            </a:r>
            <a:r>
              <a:rPr dirty="0"/>
              <a:t> </a:t>
            </a:r>
            <a:r>
              <a:rPr dirty="0" err="1"/>
              <a:t>Triển</a:t>
            </a:r>
            <a:r>
              <a:rPr dirty="0"/>
              <a:t> Du </a:t>
            </a:r>
            <a:r>
              <a:rPr dirty="0" err="1"/>
              <a:t>Lịch</a:t>
            </a:r>
            <a:r>
              <a:rPr dirty="0"/>
              <a:t> Quốc </a:t>
            </a:r>
            <a:r>
              <a:rPr dirty="0" err="1"/>
              <a:t>Tế</a:t>
            </a:r>
            <a:endParaRPr dirty="0"/>
          </a:p>
          <a:p>
            <a:pPr algn="just">
              <a:spcBef>
                <a:spcPts val="1200"/>
              </a:spcBef>
              <a:defRPr sz="1350">
                <a:solidFill>
                  <a:srgbClr val="E2E8F0"/>
                </a:solidFill>
                <a:latin typeface="Arial"/>
              </a:defRPr>
            </a:pPr>
            <a:r>
              <a:rPr dirty="0" err="1"/>
              <a:t>Cầu</a:t>
            </a:r>
            <a:r>
              <a:rPr dirty="0"/>
              <a:t> </a:t>
            </a:r>
            <a:r>
              <a:rPr dirty="0" err="1"/>
              <a:t>nối</a:t>
            </a:r>
            <a:r>
              <a:rPr dirty="0"/>
              <a:t> </a:t>
            </a:r>
            <a:r>
              <a:rPr dirty="0" err="1"/>
              <a:t>trực</a:t>
            </a:r>
            <a:r>
              <a:rPr dirty="0"/>
              <a:t> </a:t>
            </a:r>
            <a:r>
              <a:rPr dirty="0" err="1"/>
              <a:t>tiếp</a:t>
            </a:r>
            <a:r>
              <a:rPr dirty="0"/>
              <a:t> </a:t>
            </a:r>
            <a:r>
              <a:rPr dirty="0" err="1"/>
              <a:t>đưa</a:t>
            </a:r>
            <a:r>
              <a:rPr dirty="0"/>
              <a:t> </a:t>
            </a:r>
            <a:r>
              <a:rPr dirty="0" err="1"/>
              <a:t>hơn</a:t>
            </a:r>
            <a:r>
              <a:rPr dirty="0"/>
              <a:t> 27.000 du </a:t>
            </a:r>
            <a:r>
              <a:rPr dirty="0" err="1"/>
              <a:t>khách</a:t>
            </a:r>
            <a:r>
              <a:rPr dirty="0"/>
              <a:t> </a:t>
            </a:r>
            <a:r>
              <a:rPr dirty="0" err="1"/>
              <a:t>quốc</a:t>
            </a:r>
            <a:r>
              <a:rPr dirty="0"/>
              <a:t> </a:t>
            </a:r>
            <a:r>
              <a:rPr dirty="0" err="1"/>
              <a:t>tế</a:t>
            </a:r>
            <a:r>
              <a:rPr dirty="0"/>
              <a:t> </a:t>
            </a:r>
            <a:r>
              <a:rPr dirty="0" err="1"/>
              <a:t>mỗi</a:t>
            </a:r>
            <a:r>
              <a:rPr dirty="0"/>
              <a:t> </a:t>
            </a:r>
            <a:r>
              <a:rPr dirty="0" err="1"/>
              <a:t>tháng</a:t>
            </a:r>
            <a:r>
              <a:rPr dirty="0"/>
              <a:t> </a:t>
            </a:r>
            <a:r>
              <a:rPr dirty="0" err="1"/>
              <a:t>đến</a:t>
            </a:r>
            <a:r>
              <a:rPr dirty="0"/>
              <a:t> </a:t>
            </a:r>
            <a:r>
              <a:rPr dirty="0" err="1"/>
              <a:t>với</a:t>
            </a:r>
            <a:r>
              <a:rPr dirty="0"/>
              <a:t> </a:t>
            </a:r>
            <a:r>
              <a:rPr dirty="0" err="1"/>
              <a:t>Khách</a:t>
            </a:r>
            <a:r>
              <a:rPr dirty="0"/>
              <a:t> </a:t>
            </a:r>
            <a:r>
              <a:rPr dirty="0" err="1"/>
              <a:t>sạn</a:t>
            </a:r>
            <a:r>
              <a:rPr dirty="0"/>
              <a:t>, Quán Cafe, </a:t>
            </a:r>
            <a:r>
              <a:rPr dirty="0" err="1"/>
              <a:t>Làng</a:t>
            </a:r>
            <a:r>
              <a:rPr dirty="0"/>
              <a:t> </a:t>
            </a:r>
            <a:r>
              <a:rPr dirty="0" err="1"/>
              <a:t>nghề</a:t>
            </a:r>
            <a:r>
              <a:rPr dirty="0"/>
              <a:t> &amp; Doanh </a:t>
            </a:r>
            <a:r>
              <a:rPr dirty="0" err="1"/>
              <a:t>nghiệp</a:t>
            </a:r>
            <a:r>
              <a:rPr dirty="0"/>
              <a:t> </a:t>
            </a:r>
            <a:r>
              <a:rPr dirty="0" err="1"/>
              <a:t>của</a:t>
            </a:r>
            <a:r>
              <a:rPr dirty="0"/>
              <a:t> </a:t>
            </a:r>
            <a:r>
              <a:rPr dirty="0" err="1"/>
              <a:t>bạn</a:t>
            </a:r>
            <a:r>
              <a:rPr dirty="0"/>
              <a:t>.</a:t>
            </a:r>
          </a:p>
          <a:p>
            <a:pPr algn="ctr">
              <a:spcBef>
                <a:spcPts val="1800"/>
              </a:spcBef>
              <a:defRPr sz="1100" b="1">
                <a:solidFill>
                  <a:srgbClr val="008AA3"/>
                </a:solidFill>
                <a:latin typeface="Arial"/>
              </a:defRPr>
            </a:pPr>
            <a:r>
              <a:rPr dirty="0"/>
              <a:t>🤝 15% Hoa Hồng Booking   •   ☕ </a:t>
            </a:r>
            <a:r>
              <a:rPr dirty="0" err="1"/>
              <a:t>Dẫn</a:t>
            </a:r>
            <a:r>
              <a:rPr dirty="0"/>
              <a:t> </a:t>
            </a:r>
            <a:r>
              <a:rPr dirty="0" err="1"/>
              <a:t>Luồng</a:t>
            </a:r>
            <a:r>
              <a:rPr dirty="0"/>
              <a:t> </a:t>
            </a:r>
            <a:r>
              <a:rPr dirty="0" err="1"/>
              <a:t>Khách</a:t>
            </a:r>
            <a:r>
              <a:rPr dirty="0"/>
              <a:t> </a:t>
            </a:r>
            <a:r>
              <a:rPr dirty="0" err="1"/>
              <a:t>Đều</a:t>
            </a:r>
            <a:r>
              <a:rPr dirty="0"/>
              <a:t> </a:t>
            </a:r>
            <a:r>
              <a:rPr dirty="0" err="1"/>
              <a:t>Đặn</a:t>
            </a:r>
            <a:r>
              <a:rPr dirty="0"/>
              <a:t> </a:t>
            </a:r>
            <a:r>
              <a:rPr dirty="0" err="1"/>
              <a:t>Hàng</a:t>
            </a:r>
            <a:r>
              <a:rPr dirty="0"/>
              <a:t> </a:t>
            </a:r>
            <a:r>
              <a:rPr dirty="0" err="1"/>
              <a:t>Tuần</a:t>
            </a:r>
            <a:r>
              <a:rPr dirty="0"/>
              <a:t>   •   🎬 Tài </a:t>
            </a:r>
            <a:r>
              <a:rPr dirty="0" err="1"/>
              <a:t>Trợ</a:t>
            </a:r>
            <a:r>
              <a:rPr dirty="0"/>
              <a:t> </a:t>
            </a:r>
            <a:r>
              <a:rPr dirty="0" err="1"/>
              <a:t>Hình</a:t>
            </a:r>
            <a:r>
              <a:rPr dirty="0"/>
              <a:t> </a:t>
            </a:r>
            <a:r>
              <a:rPr dirty="0" err="1"/>
              <a:t>Ảnh</a:t>
            </a:r>
            <a:r>
              <a:rPr dirty="0"/>
              <a:t>/Video Chuyên </a:t>
            </a:r>
            <a:r>
              <a:rPr dirty="0" err="1"/>
              <a:t>Nghiệp</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1F5F9"/>
        </a:solidFill>
        <a:effectLst/>
      </p:bgPr>
    </p:bg>
    <p:spTree>
      <p:nvGrpSpPr>
        <p:cNvPr id="1" name=""/>
        <p:cNvGrpSpPr/>
        <p:nvPr/>
      </p:nvGrpSpPr>
      <p:grpSpPr>
        <a:xfrm>
          <a:off x="0" y="0"/>
          <a:ext cx="0" cy="0"/>
          <a:chOff x="0" y="0"/>
          <a:chExt cx="0" cy="0"/>
        </a:xfrm>
      </p:grpSpPr>
      <p:sp>
        <p:nvSpPr>
          <p:cNvPr id="2" name="TextBox 1"/>
          <p:cNvSpPr txBox="1"/>
          <p:nvPr/>
        </p:nvSpPr>
        <p:spPr>
          <a:xfrm>
            <a:off x="731520" y="411480"/>
            <a:ext cx="10698480" cy="1097280"/>
          </a:xfrm>
          <a:prstGeom prst="rect">
            <a:avLst/>
          </a:prstGeom>
          <a:noFill/>
        </p:spPr>
        <p:txBody>
          <a:bodyPr wrap="square" lIns="0" tIns="0" rIns="0" bIns="0">
            <a:spAutoFit/>
          </a:bodyPr>
          <a:lstStyle/>
          <a:p>
            <a:pPr>
              <a:defRPr sz="1100" b="1">
                <a:solidFill>
                  <a:srgbClr val="008AA3"/>
                </a:solidFill>
                <a:latin typeface="Arial"/>
              </a:defRPr>
            </a:pPr>
            <a:r>
              <a:t>HỒ SƠ NĂNG LỰC &amp; HIỆU SUẤT</a:t>
            </a:r>
          </a:p>
          <a:p>
            <a:pPr>
              <a:spcBef>
                <a:spcPts val="300"/>
              </a:spcBef>
              <a:defRPr sz="2100" b="1">
                <a:solidFill>
                  <a:srgbClr val="0F172A"/>
                </a:solidFill>
                <a:latin typeface="Arial"/>
              </a:defRPr>
            </a:pPr>
            <a:r>
              <a:t>Thông Số Đo Lường Thực Tế Mạng Xã Hội TravelFrame</a:t>
            </a:r>
          </a:p>
          <a:p>
            <a:pPr>
              <a:spcBef>
                <a:spcPts val="200"/>
              </a:spcBef>
              <a:defRPr sz="1150">
                <a:solidFill>
                  <a:srgbClr val="64748B"/>
                </a:solidFill>
                <a:latin typeface="Arial"/>
              </a:defRPr>
            </a:pPr>
            <a:r>
              <a:t>Sức mạnh phân phối tự nhiên đưa hình ảnh các điểm đến Hà Nội chạm tới hàng chục ngàn du khách quốc tế.</a:t>
            </a:r>
          </a:p>
        </p:txBody>
      </p:sp>
      <p:sp>
        <p:nvSpPr>
          <p:cNvPr id="3" name="Rounded Rectangle 2"/>
          <p:cNvSpPr/>
          <p:nvPr/>
        </p:nvSpPr>
        <p:spPr>
          <a:xfrm>
            <a:off x="731520" y="1737360"/>
            <a:ext cx="2468880" cy="2103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228600" rIns="182880" rtlCol="0" anchor="ctr"/>
          <a:lstStyle/>
          <a:p>
            <a:pPr algn="ctr">
              <a:defRPr sz="2500" b="1">
                <a:solidFill>
                  <a:srgbClr val="00596B"/>
                </a:solidFill>
                <a:latin typeface="Arial"/>
              </a:defRPr>
            </a:pPr>
            <a:r>
              <a:t>41.921+</a:t>
            </a:r>
          </a:p>
          <a:p>
            <a:pPr>
              <a:spcBef>
                <a:spcPts val="400"/>
              </a:spcBef>
              <a:defRPr sz="1050" b="1">
                <a:solidFill>
                  <a:srgbClr val="1E293B"/>
                </a:solidFill>
                <a:latin typeface="Arial"/>
              </a:defRPr>
            </a:pPr>
            <a:r>
              <a:t>LƯỢT XEM VIDEO (REELS)</a:t>
            </a:r>
          </a:p>
          <a:p>
            <a:pPr>
              <a:spcBef>
                <a:spcPts val="600"/>
              </a:spcBef>
              <a:defRPr sz="950">
                <a:solidFill>
                  <a:srgbClr val="64748B"/>
                </a:solidFill>
                <a:latin typeface="Arial"/>
              </a:defRPr>
            </a:pPr>
            <a:r>
              <a:t>Thuật toán liên tục phân phối mạnh mẽ tới tệp người dùng đang lên kế hoạch du lịch Hà Nội.</a:t>
            </a:r>
          </a:p>
        </p:txBody>
      </p:sp>
      <p:sp>
        <p:nvSpPr>
          <p:cNvPr id="4" name="Rounded Rectangle 3"/>
          <p:cNvSpPr/>
          <p:nvPr/>
        </p:nvSpPr>
        <p:spPr>
          <a:xfrm>
            <a:off x="3474720" y="1737360"/>
            <a:ext cx="2468880" cy="2103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228600" rIns="182880" rtlCol="0" anchor="ctr"/>
          <a:lstStyle/>
          <a:p>
            <a:pPr algn="ctr">
              <a:defRPr sz="2500" b="1">
                <a:solidFill>
                  <a:srgbClr val="00596B"/>
                </a:solidFill>
                <a:latin typeface="Arial"/>
              </a:defRPr>
            </a:pPr>
            <a:r>
              <a:t>27.370+</a:t>
            </a:r>
          </a:p>
          <a:p>
            <a:pPr>
              <a:spcBef>
                <a:spcPts val="400"/>
              </a:spcBef>
              <a:defRPr sz="1050" b="1">
                <a:solidFill>
                  <a:srgbClr val="1E293B"/>
                </a:solidFill>
                <a:latin typeface="Arial"/>
              </a:defRPr>
            </a:pPr>
            <a:r>
              <a:t>TÀI KHOẢN TIẾP CẬN</a:t>
            </a:r>
          </a:p>
          <a:p>
            <a:pPr>
              <a:spcBef>
                <a:spcPts val="600"/>
              </a:spcBef>
              <a:defRPr sz="950">
                <a:solidFill>
                  <a:srgbClr val="64748B"/>
                </a:solidFill>
                <a:latin typeface="Arial"/>
              </a:defRPr>
            </a:pPr>
            <a:r>
              <a:t>Khả năng mở rộng nhận diện liên tục cho các điểm đến, quán ăn và dịch vụ liên kết.</a:t>
            </a:r>
          </a:p>
        </p:txBody>
      </p:sp>
      <p:sp>
        <p:nvSpPr>
          <p:cNvPr id="5" name="Rounded Rectangle 4"/>
          <p:cNvSpPr/>
          <p:nvPr/>
        </p:nvSpPr>
        <p:spPr>
          <a:xfrm>
            <a:off x="6217920" y="1737360"/>
            <a:ext cx="2468880" cy="2103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228600" rIns="182880" rtlCol="0" anchor="ctr"/>
          <a:lstStyle/>
          <a:p>
            <a:pPr algn="ctr">
              <a:defRPr sz="2500" b="1">
                <a:solidFill>
                  <a:srgbClr val="00596B"/>
                </a:solidFill>
                <a:latin typeface="Arial"/>
              </a:defRPr>
            </a:pPr>
            <a:r>
              <a:t>98,7%</a:t>
            </a:r>
          </a:p>
          <a:p>
            <a:pPr>
              <a:spcBef>
                <a:spcPts val="400"/>
              </a:spcBef>
              <a:defRPr sz="1050" b="1">
                <a:solidFill>
                  <a:srgbClr val="1E293B"/>
                </a:solidFill>
                <a:latin typeface="Arial"/>
              </a:defRPr>
            </a:pPr>
            <a:r>
              <a:t>KHÁN GIẢ NGOÀI KÊNH</a:t>
            </a:r>
          </a:p>
          <a:p>
            <a:pPr>
              <a:spcBef>
                <a:spcPts val="600"/>
              </a:spcBef>
              <a:defRPr sz="950">
                <a:solidFill>
                  <a:srgbClr val="64748B"/>
                </a:solidFill>
                <a:latin typeface="Arial"/>
              </a:defRPr>
            </a:pPr>
            <a:r>
              <a:t>Cực kỳ đắt giá cho đối tác: Tiếp cận trực tiếp du khách quốc tế mới đặt chân tới Việt Nam.</a:t>
            </a:r>
          </a:p>
        </p:txBody>
      </p:sp>
      <p:sp>
        <p:nvSpPr>
          <p:cNvPr id="6" name="Rounded Rectangle 5"/>
          <p:cNvSpPr/>
          <p:nvPr/>
        </p:nvSpPr>
        <p:spPr>
          <a:xfrm>
            <a:off x="8961120" y="1737360"/>
            <a:ext cx="2468880" cy="2103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228600" rIns="182880" rtlCol="0" anchor="ctr"/>
          <a:lstStyle/>
          <a:p>
            <a:pPr algn="ctr">
              <a:defRPr sz="2500" b="1">
                <a:solidFill>
                  <a:srgbClr val="00596B"/>
                </a:solidFill>
                <a:latin typeface="Arial"/>
              </a:defRPr>
            </a:pPr>
            <a:r>
              <a:t>~1.700</a:t>
            </a:r>
          </a:p>
          <a:p>
            <a:pPr>
              <a:spcBef>
                <a:spcPts val="400"/>
              </a:spcBef>
              <a:defRPr sz="1050" b="1">
                <a:solidFill>
                  <a:srgbClr val="1E293B"/>
                </a:solidFill>
                <a:latin typeface="Arial"/>
              </a:defRPr>
            </a:pPr>
            <a:r>
              <a:t>LƯỢT TƯƠNG TÁC THỰC CHẤT</a:t>
            </a:r>
          </a:p>
          <a:p>
            <a:pPr>
              <a:spcBef>
                <a:spcPts val="600"/>
              </a:spcBef>
              <a:defRPr sz="950">
                <a:solidFill>
                  <a:srgbClr val="64748B"/>
                </a:solidFill>
                <a:latin typeface="Arial"/>
              </a:defRPr>
            </a:pPr>
            <a:r>
              <a:t>Khán giả lưu bài, chia sẻ kinh nghiệm, hỏi đường, hỏi quán ăn ngon và lịch trình cụ thể.</a:t>
            </a:r>
          </a:p>
        </p:txBody>
      </p:sp>
      <p:sp>
        <p:nvSpPr>
          <p:cNvPr id="7" name="Rounded Rectangle 6"/>
          <p:cNvSpPr/>
          <p:nvPr/>
        </p:nvSpPr>
        <p:spPr>
          <a:xfrm>
            <a:off x="731520" y="4114800"/>
            <a:ext cx="10698480" cy="2194560"/>
          </a:xfrm>
          <a:prstGeom prst="roundRect">
            <a:avLst/>
          </a:prstGeom>
          <a:solidFill>
            <a:srgbClr val="FFFFFF"/>
          </a:solidFill>
          <a:ln>
            <a:solidFill>
              <a:srgbClr val="008AA3"/>
            </a:solidFill>
          </a:ln>
        </p:spPr>
        <p:style>
          <a:lnRef idx="1">
            <a:schemeClr val="accent1"/>
          </a:lnRef>
          <a:fillRef idx="3">
            <a:schemeClr val="accent1"/>
          </a:fillRef>
          <a:effectRef idx="2">
            <a:schemeClr val="accent1"/>
          </a:effectRef>
          <a:fontRef idx="minor">
            <a:schemeClr val="lt1"/>
          </a:fontRef>
        </p:style>
        <p:txBody>
          <a:bodyPr wrap="square" lIns="274320" tIns="274320" rIns="274320" rtlCol="0" anchor="ctr"/>
          <a:lstStyle/>
          <a:p>
            <a:pPr algn="ctr">
              <a:defRPr sz="1350" b="1">
                <a:solidFill>
                  <a:srgbClr val="0F172A"/>
                </a:solidFill>
                <a:latin typeface="Arial"/>
              </a:defRPr>
            </a:pPr>
            <a:r>
              <a:t>🌐 Mạng Lưới Kênh Mạng Xã Hội Đa Nền Tảng Của TravelFrame</a:t>
            </a:r>
          </a:p>
          <a:p>
            <a:pPr>
              <a:spcBef>
                <a:spcPts val="500"/>
              </a:spcBef>
              <a:defRPr sz="1050">
                <a:solidFill>
                  <a:srgbClr val="1E293B"/>
                </a:solidFill>
                <a:latin typeface="Arial"/>
              </a:defRPr>
            </a:pPr>
            <a:r>
              <a:t>• 📸 Instagram (@travelframe.vn): Kênh lõi video ngắn Reels &amp; hình ảnh nghệ thuật tiếp cận hơn 41.900+ views/tháng.</a:t>
            </a:r>
          </a:p>
          <a:p>
            <a:pPr>
              <a:spcBef>
                <a:spcPts val="500"/>
              </a:spcBef>
              <a:defRPr sz="1050">
                <a:solidFill>
                  <a:srgbClr val="1E293B"/>
                </a:solidFill>
                <a:latin typeface="Arial"/>
              </a:defRPr>
            </a:pPr>
            <a:r>
              <a:t>• 📘 Facebook Fanpage (TravelFrame Hanoi): Kênh kết nối cộng đồng expat, cập nhật thông tin tour và hỗ trợ khách hàng.</a:t>
            </a:r>
          </a:p>
          <a:p>
            <a:pPr>
              <a:spcBef>
                <a:spcPts val="500"/>
              </a:spcBef>
              <a:defRPr sz="1050">
                <a:solidFill>
                  <a:srgbClr val="1E293B"/>
                </a:solidFill>
                <a:latin typeface="Arial"/>
              </a:defRPr>
            </a:pPr>
            <a:r>
              <a:t>• 🎵 TikTok &amp; 🧵 Threads (@travelframe.vn): Bắt trọn xu hướng ẩm thực ngõ nhỏ, cẩm nang du lịch vi mô và giải đáp thắc mắc.</a:t>
            </a:r>
          </a:p>
          <a:p>
            <a:pPr>
              <a:spcBef>
                <a:spcPts val="500"/>
              </a:spcBef>
              <a:defRPr sz="1050">
                <a:solidFill>
                  <a:srgbClr val="1E293B"/>
                </a:solidFill>
                <a:latin typeface="Arial"/>
              </a:defRPr>
            </a:pPr>
            <a:r>
              <a:t>• 🌐 Website &amp; SEO Hub (travelframe.sidevn.com): Hệ sinh thái bài viết cẩm nang chuyên sâu thu hút hàng ngàn lượt tìm kiếm organic mỗi tháng.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1F5F9"/>
        </a:solidFill>
        <a:effectLst/>
      </p:bgPr>
    </p:bg>
    <p:spTree>
      <p:nvGrpSpPr>
        <p:cNvPr id="1" name=""/>
        <p:cNvGrpSpPr/>
        <p:nvPr/>
      </p:nvGrpSpPr>
      <p:grpSpPr>
        <a:xfrm>
          <a:off x="0" y="0"/>
          <a:ext cx="0" cy="0"/>
          <a:chOff x="0" y="0"/>
          <a:chExt cx="0" cy="0"/>
        </a:xfrm>
      </p:grpSpPr>
      <p:sp>
        <p:nvSpPr>
          <p:cNvPr id="2" name="TextBox 1"/>
          <p:cNvSpPr txBox="1"/>
          <p:nvPr/>
        </p:nvSpPr>
        <p:spPr>
          <a:xfrm>
            <a:off x="731520" y="411480"/>
            <a:ext cx="10698480" cy="1097280"/>
          </a:xfrm>
          <a:prstGeom prst="rect">
            <a:avLst/>
          </a:prstGeom>
          <a:noFill/>
        </p:spPr>
        <p:txBody>
          <a:bodyPr wrap="square" lIns="0" tIns="0" rIns="0" bIns="0">
            <a:spAutoFit/>
          </a:bodyPr>
          <a:lstStyle/>
          <a:p>
            <a:pPr>
              <a:defRPr sz="1100" b="1">
                <a:solidFill>
                  <a:srgbClr val="008AA3"/>
                </a:solidFill>
                <a:latin typeface="Arial"/>
              </a:defRPr>
            </a:pPr>
            <a:r>
              <a:t>TỆP KHÁCH HÀNG MỤC TIÊU</a:t>
            </a:r>
          </a:p>
          <a:p>
            <a:pPr>
              <a:spcBef>
                <a:spcPts val="300"/>
              </a:spcBef>
              <a:defRPr sz="2100" b="1">
                <a:solidFill>
                  <a:srgbClr val="0F172A"/>
                </a:solidFill>
                <a:latin typeface="Arial"/>
              </a:defRPr>
            </a:pPr>
            <a:r>
              <a:t>Du Khách Quốc Tế Văn Minh Với Sức Chi Tiêu Cao</a:t>
            </a:r>
          </a:p>
          <a:p>
            <a:pPr>
              <a:spcBef>
                <a:spcPts val="200"/>
              </a:spcBef>
              <a:defRPr sz="1150">
                <a:solidFill>
                  <a:srgbClr val="64748B"/>
                </a:solidFill>
                <a:latin typeface="Arial"/>
              </a:defRPr>
            </a:pPr>
            <a:r>
              <a:t>Tệp khách hàng của TravelFrame chính là nhóm khách hàng lý tưởng mà mọi doanh nghiệp du lịch đều muốn thu hút.</a:t>
            </a:r>
          </a:p>
        </p:txBody>
      </p:sp>
      <p:sp>
        <p:nvSpPr>
          <p:cNvPr id="3" name="Rounded Rectangle 2"/>
          <p:cNvSpPr/>
          <p:nvPr/>
        </p:nvSpPr>
        <p:spPr>
          <a:xfrm>
            <a:off x="731520" y="1737360"/>
            <a:ext cx="3383280" cy="2103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274320" tIns="274320" rIns="274320" rtlCol="0" anchor="ctr"/>
          <a:lstStyle/>
          <a:p>
            <a:pPr algn="ctr">
              <a:defRPr sz="1500" b="1">
                <a:solidFill>
                  <a:srgbClr val="00596B"/>
                </a:solidFill>
                <a:latin typeface="Arial"/>
              </a:defRPr>
            </a:pPr>
            <a:r>
              <a:t>🌏 Nguồn Khách Quốc Tế</a:t>
            </a:r>
          </a:p>
          <a:p>
            <a:pPr>
              <a:spcBef>
                <a:spcPts val="800"/>
              </a:spcBef>
              <a:defRPr sz="1100">
                <a:solidFill>
                  <a:srgbClr val="1E293B"/>
                </a:solidFill>
                <a:latin typeface="Arial"/>
              </a:defRPr>
            </a:pPr>
            <a:r>
              <a:t>Trên 80% đến từ Úc, Mỹ, Anh, Khối Liên minh Châu Âu, Singapore, Đài Loan, Hàn Quốc. Trí thức, lịch sự và văn minh.</a:t>
            </a:r>
          </a:p>
        </p:txBody>
      </p:sp>
      <p:sp>
        <p:nvSpPr>
          <p:cNvPr id="4" name="Rounded Rectangle 3"/>
          <p:cNvSpPr/>
          <p:nvPr/>
        </p:nvSpPr>
        <p:spPr>
          <a:xfrm>
            <a:off x="4389120" y="1737360"/>
            <a:ext cx="3383280" cy="2103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274320" tIns="274320" rIns="274320" rtlCol="0" anchor="ctr"/>
          <a:lstStyle/>
          <a:p>
            <a:pPr algn="ctr">
              <a:defRPr sz="1500" b="1">
                <a:solidFill>
                  <a:srgbClr val="00596B"/>
                </a:solidFill>
                <a:latin typeface="Arial"/>
              </a:defRPr>
            </a:pPr>
            <a:r>
              <a:t>👥 Độ Tuổi 23 - 40</a:t>
            </a:r>
          </a:p>
          <a:p>
            <a:pPr>
              <a:spcBef>
                <a:spcPts val="800"/>
              </a:spcBef>
              <a:defRPr sz="1100">
                <a:solidFill>
                  <a:srgbClr val="1E293B"/>
                </a:solidFill>
                <a:latin typeface="Arial"/>
              </a:defRPr>
            </a:pPr>
            <a:r>
              <a:t>Thế hệ Millennials, nữ du lịch một mình, cặp đôi tuần trăng mật, content creators và nhóm bạn trẻ đam mê văn hóa.</a:t>
            </a:r>
          </a:p>
        </p:txBody>
      </p:sp>
      <p:sp>
        <p:nvSpPr>
          <p:cNvPr id="5" name="Rounded Rectangle 4"/>
          <p:cNvSpPr/>
          <p:nvPr/>
        </p:nvSpPr>
        <p:spPr>
          <a:xfrm>
            <a:off x="8046720" y="1737360"/>
            <a:ext cx="3383280" cy="2103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274320" tIns="274320" rIns="274320" rtlCol="0" anchor="ctr"/>
          <a:lstStyle/>
          <a:p>
            <a:pPr algn="ctr">
              <a:defRPr sz="1500" b="1">
                <a:solidFill>
                  <a:srgbClr val="00596B"/>
                </a:solidFill>
                <a:latin typeface="Arial"/>
              </a:defRPr>
            </a:pPr>
            <a:r>
              <a:t>💳 Sức Chi $75 - $290 USD</a:t>
            </a:r>
          </a:p>
          <a:p>
            <a:pPr>
              <a:spcBef>
                <a:spcPts val="800"/>
              </a:spcBef>
              <a:defRPr sz="1100">
                <a:solidFill>
                  <a:srgbClr val="1E293B"/>
                </a:solidFill>
                <a:latin typeface="Arial"/>
              </a:defRPr>
            </a:pPr>
            <a:r>
              <a:t>Sẵn sàng chi trả từ 1,95 triệu đến 7,5 triệu VNĐ cho trải nghiệm riêng tư; yêu thích dịch vụ chất lượng và đồ thủ công tinh xảo.</a:t>
            </a:r>
          </a:p>
        </p:txBody>
      </p:sp>
      <p:sp>
        <p:nvSpPr>
          <p:cNvPr id="6" name="Rounded Rectangle 5"/>
          <p:cNvSpPr/>
          <p:nvPr/>
        </p:nvSpPr>
        <p:spPr>
          <a:xfrm>
            <a:off x="731520" y="4114800"/>
            <a:ext cx="10698480" cy="2194560"/>
          </a:xfrm>
          <a:prstGeom prst="roundRect">
            <a:avLst/>
          </a:prstGeom>
          <a:solidFill>
            <a:srgbClr val="FFFFFF"/>
          </a:solidFill>
          <a:ln>
            <a:solidFill>
              <a:srgbClr val="008AA3"/>
            </a:solidFill>
          </a:ln>
        </p:spPr>
        <p:style>
          <a:lnRef idx="1">
            <a:schemeClr val="accent1"/>
          </a:lnRef>
          <a:fillRef idx="3">
            <a:schemeClr val="accent1"/>
          </a:fillRef>
          <a:effectRef idx="2">
            <a:schemeClr val="accent1"/>
          </a:effectRef>
          <a:fontRef idx="minor">
            <a:schemeClr val="lt1"/>
          </a:fontRef>
        </p:style>
        <p:txBody>
          <a:bodyPr wrap="square" lIns="274320" tIns="274320" rIns="274320" rtlCol="0" anchor="ctr"/>
          <a:lstStyle/>
          <a:p>
            <a:pPr algn="ctr">
              <a:defRPr sz="1350" b="1">
                <a:solidFill>
                  <a:srgbClr val="0F172A"/>
                </a:solidFill>
                <a:latin typeface="Arial"/>
              </a:defRPr>
            </a:pPr>
            <a:r>
              <a:t>💡 Thói Quen Tiêu Dùng &amp; Hành Vi Của Du Khách TravelFrame</a:t>
            </a:r>
          </a:p>
          <a:p>
            <a:pPr>
              <a:spcBef>
                <a:spcPts val="600"/>
              </a:spcBef>
              <a:defRPr sz="1050">
                <a:solidFill>
                  <a:srgbClr val="1E293B"/>
                </a:solidFill>
                <a:latin typeface="Arial"/>
              </a:defRPr>
            </a:pPr>
            <a:r>
              <a:t>• Tìm Kiếm Không Gian Ẩn Giấu (Hidden Gems): Chủ động tránh xa các điểm du lịch xô bồ, thích quán cà phê ban công, tiệm ăn gia truyền và xưởng thủ công.</a:t>
            </a:r>
          </a:p>
          <a:p>
            <a:pPr>
              <a:spcBef>
                <a:spcPts val="600"/>
              </a:spcBef>
              <a:defRPr sz="1050">
                <a:solidFill>
                  <a:srgbClr val="1E293B"/>
                </a:solidFill>
                <a:latin typeface="Arial"/>
              </a:defRPr>
            </a:pPr>
            <a:r>
              <a:t>• Lan Tỏa Hình Ảnh Mạnh Mẽ: Rất tích cực chia sẻ ảnh và video lên Instagram, TikTok, để lại đánh giá 5 sao trên Google Maps và TripAdvisor.</a:t>
            </a:r>
          </a:p>
          <a:p>
            <a:pPr>
              <a:spcBef>
                <a:spcPts val="600"/>
              </a:spcBef>
              <a:defRPr sz="1050">
                <a:solidFill>
                  <a:srgbClr val="1E293B"/>
                </a:solidFill>
                <a:latin typeface="Arial"/>
              </a:defRPr>
            </a:pPr>
            <a:r>
              <a:t>• Ủng Hộ Văn Hóa Bản Địa: Sẵn sàng chi tiền mua sản phẩm thủ công mỹ nghệ, lụa tơ tằm, gốm sứ và cà phê đặc sản về làm quà kỷ niệm.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1F5F9"/>
        </a:solidFill>
        <a:effectLst/>
      </p:bgPr>
    </p:bg>
    <p:spTree>
      <p:nvGrpSpPr>
        <p:cNvPr id="1" name=""/>
        <p:cNvGrpSpPr/>
        <p:nvPr/>
      </p:nvGrpSpPr>
      <p:grpSpPr>
        <a:xfrm>
          <a:off x="0" y="0"/>
          <a:ext cx="0" cy="0"/>
          <a:chOff x="0" y="0"/>
          <a:chExt cx="0" cy="0"/>
        </a:xfrm>
      </p:grpSpPr>
      <p:sp>
        <p:nvSpPr>
          <p:cNvPr id="2" name="TextBox 1"/>
          <p:cNvSpPr txBox="1"/>
          <p:nvPr/>
        </p:nvSpPr>
        <p:spPr>
          <a:xfrm>
            <a:off x="731520" y="411480"/>
            <a:ext cx="10698480" cy="1097280"/>
          </a:xfrm>
          <a:prstGeom prst="rect">
            <a:avLst/>
          </a:prstGeom>
          <a:noFill/>
        </p:spPr>
        <p:txBody>
          <a:bodyPr wrap="square" lIns="0" tIns="0" rIns="0" bIns="0">
            <a:spAutoFit/>
          </a:bodyPr>
          <a:lstStyle/>
          <a:p>
            <a:pPr>
              <a:defRPr sz="1100" b="1">
                <a:solidFill>
                  <a:srgbClr val="008AA3"/>
                </a:solidFill>
                <a:latin typeface="Arial"/>
              </a:defRPr>
            </a:pPr>
            <a:r>
              <a:t>ĐIỂM MẠNH &amp; BẰNG CHỨNG THỰC TẾ</a:t>
            </a:r>
          </a:p>
          <a:p>
            <a:pPr>
              <a:spcBef>
                <a:spcPts val="300"/>
              </a:spcBef>
              <a:defRPr sz="2100" b="1">
                <a:solidFill>
                  <a:srgbClr val="0F172A"/>
                </a:solidFill>
                <a:latin typeface="Arial"/>
              </a:defRPr>
            </a:pPr>
            <a:r>
              <a:t>Content Win Của TravelFrame Là Bệ Phóng Dẫn Khách Cho Đối Tác</a:t>
            </a:r>
          </a:p>
          <a:p>
            <a:pPr>
              <a:spcBef>
                <a:spcPts val="200"/>
              </a:spcBef>
              <a:defRPr sz="1150">
                <a:solidFill>
                  <a:srgbClr val="64748B"/>
                </a:solidFill>
                <a:latin typeface="Arial"/>
              </a:defRPr>
            </a:pPr>
            <a:r>
              <a:t>Khách du lịch quốc tế tin tưởng tuyệt đối vào các gợi ý hữu ích của TravelFrame để chọn dịch vụ đối tác.</a:t>
            </a:r>
          </a:p>
        </p:txBody>
      </p:sp>
      <p:sp>
        <p:nvSpPr>
          <p:cNvPr id="3" name="Rounded Rectangle 2"/>
          <p:cNvSpPr/>
          <p:nvPr/>
        </p:nvSpPr>
        <p:spPr>
          <a:xfrm>
            <a:off x="731520" y="1737360"/>
            <a:ext cx="3383280" cy="4572000"/>
          </a:xfrm>
          <a:prstGeom prst="roundRect">
            <a:avLst/>
          </a:prstGeom>
          <a:solidFill>
            <a:srgbClr val="FFFFFF"/>
          </a:solidFill>
          <a:ln>
            <a:solidFill>
              <a:srgbClr val="008AA3"/>
            </a:solidFill>
          </a:ln>
        </p:spPr>
        <p:style>
          <a:lnRef idx="1">
            <a:schemeClr val="accent1"/>
          </a:lnRef>
          <a:fillRef idx="3">
            <a:schemeClr val="accent1"/>
          </a:fillRef>
          <a:effectRef idx="2">
            <a:schemeClr val="accent1"/>
          </a:effectRef>
          <a:fontRef idx="minor">
            <a:schemeClr val="lt1"/>
          </a:fontRef>
        </p:style>
        <p:txBody>
          <a:bodyPr wrap="square" lIns="274320" tIns="274320" rIns="274320" rtlCol="0" anchor="ctr"/>
          <a:lstStyle/>
          <a:p>
            <a:pPr algn="ctr">
              <a:defRPr sz="1350" b="1">
                <a:solidFill>
                  <a:srgbClr val="00596B"/>
                </a:solidFill>
                <a:latin typeface="Arial"/>
              </a:defRPr>
            </a:pPr>
            <a:r>
              <a:t>🎬 Case Study 1: Video '5 Tourist Scams in Hanoi'</a:t>
            </a:r>
          </a:p>
          <a:p>
            <a:pPr>
              <a:spcBef>
                <a:spcPts val="400"/>
              </a:spcBef>
              <a:defRPr sz="1100" b="1">
                <a:solidFill>
                  <a:srgbClr val="008AA3"/>
                </a:solidFill>
                <a:latin typeface="Arial"/>
              </a:defRPr>
            </a:pPr>
            <a:r>
              <a:t>14.900 Views • 126 Shares</a:t>
            </a:r>
          </a:p>
          <a:p>
            <a:pPr>
              <a:spcBef>
                <a:spcPts val="1000"/>
              </a:spcBef>
              <a:defRPr sz="1050">
                <a:solidFill>
                  <a:srgbClr val="1E293B"/>
                </a:solidFill>
                <a:latin typeface="Arial"/>
              </a:defRPr>
            </a:pPr>
            <a:r>
              <a:t>Tạo dựng niềm tin tuyệt đối với du khách quốc tế. Khách chủ động lưu video và tin tưởng 100% vào các quán ăn, khách sạn và dịch vụ được TravelFrame khuyên dùng.</a:t>
            </a:r>
          </a:p>
          <a:p>
            <a:pPr>
              <a:spcBef>
                <a:spcPts val="1200"/>
              </a:spcBef>
              <a:defRPr sz="1050" b="1">
                <a:solidFill>
                  <a:srgbClr val="00596B"/>
                </a:solidFill>
                <a:latin typeface="Arial"/>
              </a:defRPr>
            </a:pPr>
            <a:r>
              <a:t>🎯 Tác động đối tác: Khách hàng tìm đến các đối tác của TravelFrame để đảm bảo không bị 'chặt chém'.</a:t>
            </a:r>
          </a:p>
        </p:txBody>
      </p:sp>
      <p:sp>
        <p:nvSpPr>
          <p:cNvPr id="4" name="Rounded Rectangle 3"/>
          <p:cNvSpPr/>
          <p:nvPr/>
        </p:nvSpPr>
        <p:spPr>
          <a:xfrm>
            <a:off x="4389120" y="1737360"/>
            <a:ext cx="3383280" cy="4572000"/>
          </a:xfrm>
          <a:prstGeom prst="roundRect">
            <a:avLst/>
          </a:prstGeom>
          <a:solidFill>
            <a:srgbClr val="FFFFFF"/>
          </a:solidFill>
          <a:ln>
            <a:solidFill>
              <a:srgbClr val="008AA3"/>
            </a:solidFill>
          </a:ln>
        </p:spPr>
        <p:style>
          <a:lnRef idx="1">
            <a:schemeClr val="accent1"/>
          </a:lnRef>
          <a:fillRef idx="3">
            <a:schemeClr val="accent1"/>
          </a:fillRef>
          <a:effectRef idx="2">
            <a:schemeClr val="accent1"/>
          </a:effectRef>
          <a:fontRef idx="minor">
            <a:schemeClr val="lt1"/>
          </a:fontRef>
        </p:style>
        <p:txBody>
          <a:bodyPr wrap="square" lIns="274320" tIns="274320" rIns="274320" rtlCol="0" anchor="ctr"/>
          <a:lstStyle/>
          <a:p>
            <a:pPr algn="ctr">
              <a:defRPr sz="1350" b="1">
                <a:solidFill>
                  <a:srgbClr val="00596B"/>
                </a:solidFill>
                <a:latin typeface="Arial"/>
              </a:defRPr>
            </a:pPr>
            <a:r>
              <a:t>🎬 Case Study 2: Video 'Train Street Quick Guide'</a:t>
            </a:r>
          </a:p>
          <a:p>
            <a:pPr>
              <a:spcBef>
                <a:spcPts val="400"/>
              </a:spcBef>
              <a:defRPr sz="1100" b="1">
                <a:solidFill>
                  <a:srgbClr val="008AA3"/>
                </a:solidFill>
                <a:latin typeface="Arial"/>
              </a:defRPr>
            </a:pPr>
            <a:r>
              <a:t>4.400 Views • Tỷ lệ Share 1,82%</a:t>
            </a:r>
          </a:p>
          <a:p>
            <a:pPr>
              <a:spcBef>
                <a:spcPts val="1000"/>
              </a:spcBef>
              <a:defRPr sz="1050">
                <a:solidFill>
                  <a:srgbClr val="1E293B"/>
                </a:solidFill>
                <a:latin typeface="Arial"/>
              </a:defRPr>
            </a:pPr>
            <a:r>
              <a:t>Khả năng điều hướng du khách thực tế cực mạnh. Chỉ dẫn khách tránh bẫy cò mồi và dẫn thẳng khách vào đúng quán cà phê đối tác an toàn, view đẹp trên tầng 2.</a:t>
            </a:r>
          </a:p>
          <a:p>
            <a:pPr>
              <a:spcBef>
                <a:spcPts val="1200"/>
              </a:spcBef>
              <a:defRPr sz="1050" b="1">
                <a:solidFill>
                  <a:srgbClr val="00596B"/>
                </a:solidFill>
                <a:latin typeface="Arial"/>
              </a:defRPr>
            </a:pPr>
            <a:r>
              <a:t>🎯 Tác động đối tác: Đảm bảo doanh thu cà phê ổn định và lượng khách ghé quán văn minh, đều đặn.</a:t>
            </a:r>
          </a:p>
        </p:txBody>
      </p:sp>
      <p:sp>
        <p:nvSpPr>
          <p:cNvPr id="5" name="Rounded Rectangle 4"/>
          <p:cNvSpPr/>
          <p:nvPr/>
        </p:nvSpPr>
        <p:spPr>
          <a:xfrm>
            <a:off x="8046720" y="1737360"/>
            <a:ext cx="3383280" cy="4572000"/>
          </a:xfrm>
          <a:prstGeom prst="roundRect">
            <a:avLst/>
          </a:prstGeom>
          <a:solidFill>
            <a:srgbClr val="FFFFFF"/>
          </a:solidFill>
          <a:ln>
            <a:solidFill>
              <a:srgbClr val="008AA3"/>
            </a:solidFill>
          </a:ln>
        </p:spPr>
        <p:style>
          <a:lnRef idx="1">
            <a:schemeClr val="accent1"/>
          </a:lnRef>
          <a:fillRef idx="3">
            <a:schemeClr val="accent1"/>
          </a:fillRef>
          <a:effectRef idx="2">
            <a:schemeClr val="accent1"/>
          </a:effectRef>
          <a:fontRef idx="minor">
            <a:schemeClr val="lt1"/>
          </a:fontRef>
        </p:style>
        <p:txBody>
          <a:bodyPr wrap="square" lIns="274320" tIns="274320" rIns="274320" rtlCol="0" anchor="ctr"/>
          <a:lstStyle/>
          <a:p>
            <a:pPr algn="ctr">
              <a:defRPr sz="1350" b="1">
                <a:solidFill>
                  <a:srgbClr val="00596B"/>
                </a:solidFill>
                <a:latin typeface="Arial"/>
              </a:defRPr>
            </a:pPr>
            <a:r>
              <a:t>🎬 Case Study 3: Video 'POV: Secret Alleys &amp; Coffee'</a:t>
            </a:r>
          </a:p>
          <a:p>
            <a:pPr>
              <a:spcBef>
                <a:spcPts val="400"/>
              </a:spcBef>
              <a:defRPr sz="1100" b="1">
                <a:solidFill>
                  <a:srgbClr val="008AA3"/>
                </a:solidFill>
                <a:latin typeface="Arial"/>
              </a:defRPr>
            </a:pPr>
            <a:r>
              <a:t>7.300 Views • 24 Bình luận hỏi quán</a:t>
            </a:r>
          </a:p>
          <a:p>
            <a:pPr>
              <a:spcBef>
                <a:spcPts val="1000"/>
              </a:spcBef>
              <a:defRPr sz="1050">
                <a:solidFill>
                  <a:srgbClr val="1E293B"/>
                </a:solidFill>
                <a:latin typeface="Arial"/>
              </a:defRPr>
            </a:pPr>
            <a:r>
              <a:t>Khơi gợi khao khát khám phá trải nghiệm ngõ nhỏ và cà phê trứng. Du khách nhắn tin hỏi trực tiếp địa chỉ quán để đến trải nghiệm trong chuyến đi.</a:t>
            </a:r>
          </a:p>
          <a:p>
            <a:pPr>
              <a:spcBef>
                <a:spcPts val="1200"/>
              </a:spcBef>
              <a:defRPr sz="1050" b="1">
                <a:solidFill>
                  <a:srgbClr val="00596B"/>
                </a:solidFill>
                <a:latin typeface="Arial"/>
              </a:defRPr>
            </a:pPr>
            <a:r>
              <a:t>🎯 Tác động đối tác: Quán cà phê đối tác được quảng bá miễn phí tới hàng chục ngàn du khách quốc tế.</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1F5F9"/>
        </a:solidFill>
        <a:effectLst/>
      </p:bgPr>
    </p:bg>
    <p:spTree>
      <p:nvGrpSpPr>
        <p:cNvPr id="1" name=""/>
        <p:cNvGrpSpPr/>
        <p:nvPr/>
      </p:nvGrpSpPr>
      <p:grpSpPr>
        <a:xfrm>
          <a:off x="0" y="0"/>
          <a:ext cx="0" cy="0"/>
          <a:chOff x="0" y="0"/>
          <a:chExt cx="0" cy="0"/>
        </a:xfrm>
      </p:grpSpPr>
      <p:sp>
        <p:nvSpPr>
          <p:cNvPr id="2" name="TextBox 1"/>
          <p:cNvSpPr txBox="1"/>
          <p:nvPr/>
        </p:nvSpPr>
        <p:spPr>
          <a:xfrm>
            <a:off x="731520" y="411480"/>
            <a:ext cx="10698480" cy="1097280"/>
          </a:xfrm>
          <a:prstGeom prst="rect">
            <a:avLst/>
          </a:prstGeom>
          <a:noFill/>
        </p:spPr>
        <p:txBody>
          <a:bodyPr wrap="square" lIns="0" tIns="0" rIns="0" bIns="0">
            <a:spAutoFit/>
          </a:bodyPr>
          <a:lstStyle/>
          <a:p>
            <a:pPr>
              <a:defRPr sz="1100" b="1">
                <a:solidFill>
                  <a:srgbClr val="008AA3"/>
                </a:solidFill>
                <a:latin typeface="Arial"/>
              </a:defRPr>
            </a:pPr>
            <a:r>
              <a:t>GÓI ĐỀ XUẤT HỢP TÁC</a:t>
            </a:r>
          </a:p>
          <a:p>
            <a:pPr>
              <a:spcBef>
                <a:spcPts val="300"/>
              </a:spcBef>
              <a:defRPr sz="2100" b="1">
                <a:solidFill>
                  <a:srgbClr val="0F172A"/>
                </a:solidFill>
                <a:latin typeface="Arial"/>
              </a:defRPr>
            </a:pPr>
            <a:r>
              <a:t>Năm Mô Hình Hợp Tác B2B Cụ Thể Cùng Doanh Nghiệp</a:t>
            </a:r>
          </a:p>
          <a:p>
            <a:pPr>
              <a:spcBef>
                <a:spcPts val="200"/>
              </a:spcBef>
              <a:defRPr sz="1150">
                <a:solidFill>
                  <a:srgbClr val="64748B"/>
                </a:solidFill>
                <a:latin typeface="Arial"/>
              </a:defRPr>
            </a:pPr>
            <a:r>
              <a:t>Được thiết kế linh hoạt nhằm gia tăng doanh thu, tối ưu lượng khách và quảng bá thương hiệu cho đối tác.</a:t>
            </a:r>
          </a:p>
        </p:txBody>
      </p:sp>
      <p:sp>
        <p:nvSpPr>
          <p:cNvPr id="3" name="Rounded Rectangle 2"/>
          <p:cNvSpPr/>
          <p:nvPr/>
        </p:nvSpPr>
        <p:spPr>
          <a:xfrm>
            <a:off x="731520" y="1737360"/>
            <a:ext cx="3383280" cy="2103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228600" tIns="228600" rIns="228600" rtlCol="0" anchor="ctr"/>
          <a:lstStyle/>
          <a:p>
            <a:pPr algn="ctr">
              <a:defRPr sz="1350" b="1">
                <a:solidFill>
                  <a:srgbClr val="00596B"/>
                </a:solidFill>
                <a:latin typeface="Arial"/>
              </a:defRPr>
            </a:pPr>
            <a:r>
              <a:t>🏨 Khách Sạn Boutique &amp; Homestay</a:t>
            </a:r>
          </a:p>
          <a:p>
            <a:pPr>
              <a:spcBef>
                <a:spcPts val="500"/>
              </a:spcBef>
              <a:defRPr sz="950">
                <a:solidFill>
                  <a:srgbClr val="1E293B"/>
                </a:solidFill>
                <a:latin typeface="Arial"/>
              </a:defRPr>
            </a:pPr>
            <a:r>
              <a:t>• Hoa hồng 15% booking (280.000 - 1.100.000 VNĐ / booking)</a:t>
            </a:r>
            <a:br/>
            <a:r>
              <a:t>• Tăng đánh giá 5 sao xuất sắc trên TripAdvisor &amp; Booking.com</a:t>
            </a:r>
            <a:br/>
            <a:r>
              <a:t>• Tặng gói chụp ảnh phòng nghỉ miễn phí ($200 USD) sau mỗi 5 booking</a:t>
            </a:r>
          </a:p>
        </p:txBody>
      </p:sp>
      <p:sp>
        <p:nvSpPr>
          <p:cNvPr id="4" name="Rounded Rectangle 3"/>
          <p:cNvSpPr/>
          <p:nvPr/>
        </p:nvSpPr>
        <p:spPr>
          <a:xfrm>
            <a:off x="4389120" y="1737360"/>
            <a:ext cx="3383280" cy="2103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228600" tIns="228600" rIns="228600" rtlCol="0" anchor="ctr"/>
          <a:lstStyle/>
          <a:p>
            <a:pPr algn="ctr">
              <a:defRPr sz="1350" b="1">
                <a:solidFill>
                  <a:srgbClr val="00596B"/>
                </a:solidFill>
                <a:latin typeface="Arial"/>
              </a:defRPr>
            </a:pPr>
            <a:r>
              <a:t>☕ Quán Cà Phê &amp; Nhà Hàng</a:t>
            </a:r>
          </a:p>
          <a:p>
            <a:pPr>
              <a:spcBef>
                <a:spcPts val="500"/>
              </a:spcBef>
              <a:defRPr sz="950">
                <a:solidFill>
                  <a:srgbClr val="1E293B"/>
                </a:solidFill>
                <a:latin typeface="Arial"/>
              </a:defRPr>
            </a:pPr>
            <a:r>
              <a:t>• Trở thành 'Điểm Dừng Chân Chính Thức' trong tour hàng tuần</a:t>
            </a:r>
            <a:br/>
            <a:r>
              <a:t>• Dẫn luồng khách quốc tế đều đặn (nhóm 1-3 người lịch sự)</a:t>
            </a:r>
            <a:br/>
            <a:r>
              <a:t>• Tặng bộ ảnh đồ uống chuẩn tạp chí để quán dùng trên Google Maps</a:t>
            </a:r>
          </a:p>
        </p:txBody>
      </p:sp>
      <p:sp>
        <p:nvSpPr>
          <p:cNvPr id="5" name="Rounded Rectangle 4"/>
          <p:cNvSpPr/>
          <p:nvPr/>
        </p:nvSpPr>
        <p:spPr>
          <a:xfrm>
            <a:off x="8046720" y="1737360"/>
            <a:ext cx="3383280" cy="2103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228600" tIns="228600" rIns="228600" rtlCol="0" anchor="ctr"/>
          <a:lstStyle/>
          <a:p>
            <a:pPr algn="ctr">
              <a:defRPr sz="1350" b="1">
                <a:solidFill>
                  <a:srgbClr val="00596B"/>
                </a:solidFill>
                <a:latin typeface="Arial"/>
              </a:defRPr>
            </a:pPr>
            <a:r>
              <a:t>🏺 Làng Nghề &amp; Xưởng Thủ Công</a:t>
            </a:r>
          </a:p>
          <a:p>
            <a:pPr>
              <a:spcBef>
                <a:spcPts val="500"/>
              </a:spcBef>
              <a:defRPr sz="950">
                <a:solidFill>
                  <a:srgbClr val="1E293B"/>
                </a:solidFill>
                <a:latin typeface="Arial"/>
              </a:defRPr>
            </a:pPr>
            <a:r>
              <a:t>• Đưa vào gói tour khám phá cả ngày Cultural Odyssey ($290 USD)</a:t>
            </a:r>
            <a:br/>
            <a:r>
              <a:t>• Quay dựng phim tài liệu ngắn nghệ thuật tôn vinh tay nghề nghệ nhân</a:t>
            </a:r>
            <a:br/>
            <a:r>
              <a:t>• Tiếp cận trực tiếp du khách quốc tế có nhu cầu mua sắm cao</a:t>
            </a:r>
          </a:p>
        </p:txBody>
      </p:sp>
      <p:sp>
        <p:nvSpPr>
          <p:cNvPr id="6" name="Rounded Rectangle 5"/>
          <p:cNvSpPr/>
          <p:nvPr/>
        </p:nvSpPr>
        <p:spPr>
          <a:xfrm>
            <a:off x="731520" y="4114800"/>
            <a:ext cx="5120640" cy="2194560"/>
          </a:xfrm>
          <a:prstGeom prst="roundRect">
            <a:avLst/>
          </a:prstGeom>
          <a:solidFill>
            <a:srgbClr val="FFFFFF"/>
          </a:solidFill>
          <a:ln>
            <a:solidFill>
              <a:srgbClr val="008AA3"/>
            </a:solidFill>
          </a:ln>
        </p:spPr>
        <p:style>
          <a:lnRef idx="1">
            <a:schemeClr val="accent1"/>
          </a:lnRef>
          <a:fillRef idx="3">
            <a:schemeClr val="accent1"/>
          </a:fillRef>
          <a:effectRef idx="2">
            <a:schemeClr val="accent1"/>
          </a:effectRef>
          <a:fontRef idx="minor">
            <a:schemeClr val="lt1"/>
          </a:fontRef>
        </p:style>
        <p:txBody>
          <a:bodyPr wrap="square" lIns="228600" tIns="228600" rIns="228600" rtlCol="0" anchor="ctr"/>
          <a:lstStyle/>
          <a:p>
            <a:pPr algn="ctr">
              <a:defRPr sz="1350" b="1">
                <a:solidFill>
                  <a:srgbClr val="00596B"/>
                </a:solidFill>
                <a:latin typeface="Arial"/>
              </a:defRPr>
            </a:pPr>
            <a:r>
              <a:t>👗 Cửa Hàng Thuê Cổ Phục &amp; Áo Dài</a:t>
            </a:r>
          </a:p>
          <a:p>
            <a:pPr>
              <a:spcBef>
                <a:spcPts val="500"/>
              </a:spcBef>
              <a:defRPr sz="950">
                <a:solidFill>
                  <a:srgbClr val="1E293B"/>
                </a:solidFill>
                <a:latin typeface="Arial"/>
              </a:defRPr>
            </a:pPr>
            <a:r>
              <a:t>• Điểm thuê trang phục độc quyền cho khách gói Heritage Hanoi &amp; In Style</a:t>
            </a:r>
            <a:br/>
            <a:r>
              <a:t>• Tặng bộ ảnh lookbook thời trang chuyên nghiệp với mẫu là khách quốc tế</a:t>
            </a:r>
            <a:br/>
            <a:r>
              <a:t>• Hưởng chiết khấu hoa hồng hai chiều linh hoạt</a:t>
            </a:r>
          </a:p>
        </p:txBody>
      </p:sp>
      <p:sp>
        <p:nvSpPr>
          <p:cNvPr id="7" name="Rounded Rectangle 6"/>
          <p:cNvSpPr/>
          <p:nvPr/>
        </p:nvSpPr>
        <p:spPr>
          <a:xfrm>
            <a:off x="6217920" y="4114800"/>
            <a:ext cx="5212080" cy="2194560"/>
          </a:xfrm>
          <a:prstGeom prst="roundRect">
            <a:avLst/>
          </a:prstGeom>
          <a:solidFill>
            <a:srgbClr val="FFFFFF"/>
          </a:solidFill>
          <a:ln>
            <a:solidFill>
              <a:srgbClr val="008AA3"/>
            </a:solidFill>
          </a:ln>
        </p:spPr>
        <p:style>
          <a:lnRef idx="1">
            <a:schemeClr val="accent1"/>
          </a:lnRef>
          <a:fillRef idx="3">
            <a:schemeClr val="accent1"/>
          </a:fillRef>
          <a:effectRef idx="2">
            <a:schemeClr val="accent1"/>
          </a:effectRef>
          <a:fontRef idx="minor">
            <a:schemeClr val="lt1"/>
          </a:fontRef>
        </p:style>
        <p:txBody>
          <a:bodyPr wrap="square" lIns="228600" tIns="228600" rIns="228600" rtlCol="0" anchor="ctr"/>
          <a:lstStyle/>
          <a:p>
            <a:pPr algn="ctr">
              <a:defRPr sz="1350" b="1">
                <a:solidFill>
                  <a:srgbClr val="00596B"/>
                </a:solidFill>
                <a:latin typeface="Arial"/>
              </a:defRPr>
            </a:pPr>
            <a:r>
              <a:t>✈️ Hãng Lữ Hành Inbound (Tour Operators)</a:t>
            </a:r>
          </a:p>
          <a:p>
            <a:pPr>
              <a:spcBef>
                <a:spcPts val="500"/>
              </a:spcBef>
              <a:defRPr sz="950">
                <a:solidFill>
                  <a:srgbClr val="1E293B"/>
                </a:solidFill>
                <a:latin typeface="Arial"/>
              </a:defRPr>
            </a:pPr>
            <a:r>
              <a:t>• Đối tác gia công hình ảnh &amp; video ngắn Reels (Ground Visual Host) cho đoàn khách VIP</a:t>
            </a:r>
            <a:br/>
            <a:r>
              <a:t>• Chiết khấu sỉ B2B 25% - 30% cho các hợp đồng booking định kỳ</a:t>
            </a:r>
            <a:br/>
            <a:r>
              <a:t>• Cam kết SLA khắt khe: 24h có sneak peek, dịch vụ White-label bảo mật thương hiệu</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1F5F9"/>
        </a:solidFill>
        <a:effectLst/>
      </p:bgPr>
    </p:bg>
    <p:spTree>
      <p:nvGrpSpPr>
        <p:cNvPr id="1" name=""/>
        <p:cNvGrpSpPr/>
        <p:nvPr/>
      </p:nvGrpSpPr>
      <p:grpSpPr>
        <a:xfrm>
          <a:off x="0" y="0"/>
          <a:ext cx="0" cy="0"/>
          <a:chOff x="0" y="0"/>
          <a:chExt cx="0" cy="0"/>
        </a:xfrm>
      </p:grpSpPr>
      <p:sp>
        <p:nvSpPr>
          <p:cNvPr id="2" name="TextBox 1"/>
          <p:cNvSpPr txBox="1"/>
          <p:nvPr/>
        </p:nvSpPr>
        <p:spPr>
          <a:xfrm>
            <a:off x="731520" y="411480"/>
            <a:ext cx="10698480" cy="1097280"/>
          </a:xfrm>
          <a:prstGeom prst="rect">
            <a:avLst/>
          </a:prstGeom>
          <a:noFill/>
        </p:spPr>
        <p:txBody>
          <a:bodyPr wrap="square" lIns="0" tIns="0" rIns="0" bIns="0">
            <a:spAutoFit/>
          </a:bodyPr>
          <a:lstStyle/>
          <a:p>
            <a:pPr>
              <a:defRPr sz="1100" b="1">
                <a:solidFill>
                  <a:srgbClr val="008AA3"/>
                </a:solidFill>
                <a:latin typeface="Arial"/>
              </a:defRPr>
            </a:pPr>
            <a:r>
              <a:t>KHUNG HỢP TÁC THƯƠNG MẠI</a:t>
            </a:r>
          </a:p>
          <a:p>
            <a:pPr>
              <a:spcBef>
                <a:spcPts val="300"/>
              </a:spcBef>
              <a:defRPr sz="2100" b="1">
                <a:solidFill>
                  <a:srgbClr val="0F172A"/>
                </a:solidFill>
                <a:latin typeface="Arial"/>
              </a:defRPr>
            </a:pPr>
            <a:r>
              <a:t>Bảng Phân Hạng Cấp Độ Đối Tác &amp; Quyền Lợi Tài Chính</a:t>
            </a:r>
          </a:p>
          <a:p>
            <a:pPr>
              <a:spcBef>
                <a:spcPts val="200"/>
              </a:spcBef>
              <a:defRPr sz="1150">
                <a:solidFill>
                  <a:srgbClr val="64748B"/>
                </a:solidFill>
                <a:latin typeface="Arial"/>
              </a:defRPr>
            </a:pPr>
            <a:r>
              <a:t>Không phát sinh chi phí rủi ro ban đầu. Cùng chia sẻ giá trị và cùng tăng trưởng doanh thu.</a:t>
            </a:r>
          </a:p>
        </p:txBody>
      </p:sp>
      <p:sp>
        <p:nvSpPr>
          <p:cNvPr id="3" name="Rounded Rectangle 2"/>
          <p:cNvSpPr/>
          <p:nvPr/>
        </p:nvSpPr>
        <p:spPr>
          <a:xfrm>
            <a:off x="731520" y="1737360"/>
            <a:ext cx="3383280" cy="4572000"/>
          </a:xfrm>
          <a:prstGeom prst="roundRect">
            <a:avLst/>
          </a:prstGeom>
          <a:solidFill>
            <a:srgbClr val="FFFFFF"/>
          </a:solidFill>
          <a:ln w="19050">
            <a:solidFill>
              <a:srgbClr val="008AA3"/>
            </a:solidFill>
          </a:ln>
        </p:spPr>
        <p:style>
          <a:lnRef idx="1">
            <a:schemeClr val="accent1"/>
          </a:lnRef>
          <a:fillRef idx="3">
            <a:schemeClr val="accent1"/>
          </a:fillRef>
          <a:effectRef idx="2">
            <a:schemeClr val="accent1"/>
          </a:effectRef>
          <a:fontRef idx="minor">
            <a:schemeClr val="lt1"/>
          </a:fontRef>
        </p:style>
        <p:txBody>
          <a:bodyPr wrap="square" lIns="274320" tIns="274320" rIns="274320" rtlCol="0" anchor="ctr"/>
          <a:lstStyle/>
          <a:p>
            <a:pPr algn="ctr">
              <a:defRPr sz="1400" b="1">
                <a:solidFill>
                  <a:srgbClr val="00596B"/>
                </a:solidFill>
                <a:latin typeface="Arial"/>
              </a:defRPr>
            </a:pPr>
            <a:r>
              <a:t>Tier 1: Cộng Tác Viên Địa Phương</a:t>
            </a:r>
            <a:br/>
            <a:r>
              <a:t>(Community Affiliate)</a:t>
            </a:r>
          </a:p>
          <a:p>
            <a:pPr>
              <a:spcBef>
                <a:spcPts val="600"/>
              </a:spcBef>
              <a:defRPr sz="1150" b="1">
                <a:solidFill>
                  <a:srgbClr val="10B981"/>
                </a:solidFill>
                <a:latin typeface="Arial"/>
              </a:defRPr>
            </a:pPr>
            <a:r>
              <a:t>Phí tham gia: 0 VNĐ (Miễn Phí)</a:t>
            </a:r>
          </a:p>
          <a:p>
            <a:pPr>
              <a:spcBef>
                <a:spcPts val="1200"/>
              </a:spcBef>
              <a:defRPr sz="1100" b="1">
                <a:solidFill>
                  <a:srgbClr val="1E293B"/>
                </a:solidFill>
                <a:latin typeface="Arial"/>
              </a:defRPr>
            </a:pPr>
            <a:r>
              <a:t>Quyền Lợi Truyền Thông:</a:t>
            </a:r>
          </a:p>
          <a:p>
            <a:pPr>
              <a:spcBef>
                <a:spcPts val="400"/>
              </a:spcBef>
              <a:defRPr sz="1000">
                <a:solidFill>
                  <a:srgbClr val="64748B"/>
                </a:solidFill>
                <a:latin typeface="Arial"/>
              </a:defRPr>
            </a:pPr>
            <a:r>
              <a:t>• Đặt Standee QR / Brochure tại sảnh lễ tân</a:t>
            </a:r>
            <a:br/>
            <a:r>
              <a:t>• Xuất hiện trên danh mục đối tác website</a:t>
            </a:r>
          </a:p>
          <a:p>
            <a:pPr>
              <a:spcBef>
                <a:spcPts val="1200"/>
              </a:spcBef>
              <a:defRPr sz="1100" b="1">
                <a:solidFill>
                  <a:srgbClr val="1E293B"/>
                </a:solidFill>
                <a:latin typeface="Arial"/>
              </a:defRPr>
            </a:pPr>
            <a:r>
              <a:t>Lợi Ích Tài Chính:</a:t>
            </a:r>
          </a:p>
          <a:p>
            <a:pPr>
              <a:spcBef>
                <a:spcPts val="400"/>
              </a:spcBef>
              <a:defRPr sz="1050" b="1">
                <a:solidFill>
                  <a:srgbClr val="00596B"/>
                </a:solidFill>
                <a:latin typeface="Arial"/>
              </a:defRPr>
            </a:pPr>
            <a:r>
              <a:t>Nhận ngay 15% Hoa Hồng</a:t>
            </a:r>
            <a:br/>
            <a:r>
              <a:t>(280.000 - 1.100.000 VNĐ / booking)</a:t>
            </a:r>
          </a:p>
        </p:txBody>
      </p:sp>
      <p:sp>
        <p:nvSpPr>
          <p:cNvPr id="4" name="Rounded Rectangle 3"/>
          <p:cNvSpPr/>
          <p:nvPr/>
        </p:nvSpPr>
        <p:spPr>
          <a:xfrm>
            <a:off x="4389120" y="1737360"/>
            <a:ext cx="3383280" cy="4572000"/>
          </a:xfrm>
          <a:prstGeom prst="roundRect">
            <a:avLst/>
          </a:prstGeom>
          <a:solidFill>
            <a:srgbClr val="FFFFFF"/>
          </a:solidFill>
          <a:ln w="19050">
            <a:solidFill>
              <a:srgbClr val="008AA3"/>
            </a:solidFill>
          </a:ln>
        </p:spPr>
        <p:style>
          <a:lnRef idx="1">
            <a:schemeClr val="accent1"/>
          </a:lnRef>
          <a:fillRef idx="3">
            <a:schemeClr val="accent1"/>
          </a:fillRef>
          <a:effectRef idx="2">
            <a:schemeClr val="accent1"/>
          </a:effectRef>
          <a:fontRef idx="minor">
            <a:schemeClr val="lt1"/>
          </a:fontRef>
        </p:style>
        <p:txBody>
          <a:bodyPr wrap="square" lIns="274320" tIns="274320" rIns="274320" rtlCol="0" anchor="ctr"/>
          <a:lstStyle/>
          <a:p>
            <a:pPr algn="ctr">
              <a:defRPr sz="1400" b="1">
                <a:solidFill>
                  <a:srgbClr val="00596B"/>
                </a:solidFill>
                <a:latin typeface="Arial"/>
              </a:defRPr>
            </a:pPr>
            <a:r>
              <a:t>Tier 2: Điểm Dừng Chân Cố Định</a:t>
            </a:r>
            <a:br/>
            <a:r>
              <a:t>(Featured Stop Partner)</a:t>
            </a:r>
          </a:p>
          <a:p>
            <a:pPr>
              <a:spcBef>
                <a:spcPts val="600"/>
              </a:spcBef>
              <a:defRPr sz="1150" b="1">
                <a:solidFill>
                  <a:srgbClr val="10B981"/>
                </a:solidFill>
                <a:latin typeface="Arial"/>
              </a:defRPr>
            </a:pPr>
            <a:r>
              <a:t>Phí tham gia: 0 VNĐ (Miễn Phí)</a:t>
            </a:r>
          </a:p>
          <a:p>
            <a:pPr>
              <a:spcBef>
                <a:spcPts val="1200"/>
              </a:spcBef>
              <a:defRPr sz="1100" b="1">
                <a:solidFill>
                  <a:srgbClr val="1E293B"/>
                </a:solidFill>
                <a:latin typeface="Arial"/>
              </a:defRPr>
            </a:pPr>
            <a:r>
              <a:t>Quyền Lợi Truyền Thông:</a:t>
            </a:r>
          </a:p>
          <a:p>
            <a:pPr>
              <a:spcBef>
                <a:spcPts val="400"/>
              </a:spcBef>
              <a:defRPr sz="1000">
                <a:solidFill>
                  <a:srgbClr val="64748B"/>
                </a:solidFill>
                <a:latin typeface="Arial"/>
              </a:defRPr>
            </a:pPr>
            <a:r>
              <a:t>• Trở thành điểm dừng chân cố định trong tour</a:t>
            </a:r>
            <a:br/>
            <a:r>
              <a:t>• Nhận bộ ảnh chụp không gian/món ăn tạp chí</a:t>
            </a:r>
            <a:br/>
            <a:r>
              <a:t>• Gắn thẻ trên các video Reels/TikTok triệu view</a:t>
            </a:r>
          </a:p>
          <a:p>
            <a:pPr>
              <a:spcBef>
                <a:spcPts val="1200"/>
              </a:spcBef>
              <a:defRPr sz="1100" b="1">
                <a:solidFill>
                  <a:srgbClr val="1E293B"/>
                </a:solidFill>
                <a:latin typeface="Arial"/>
              </a:defRPr>
            </a:pPr>
            <a:r>
              <a:t>Lợi Ích Tài Chính:</a:t>
            </a:r>
          </a:p>
          <a:p>
            <a:pPr>
              <a:spcBef>
                <a:spcPts val="400"/>
              </a:spcBef>
              <a:defRPr sz="1050" b="1">
                <a:solidFill>
                  <a:srgbClr val="00596B"/>
                </a:solidFill>
                <a:latin typeface="Arial"/>
              </a:defRPr>
            </a:pPr>
            <a:r>
              <a:t>Cam kết lượng khách quốc tế</a:t>
            </a:r>
            <a:br/>
            <a:r>
              <a:t>đều đặn hàng tuần</a:t>
            </a:r>
          </a:p>
        </p:txBody>
      </p:sp>
      <p:sp>
        <p:nvSpPr>
          <p:cNvPr id="5" name="Rounded Rectangle 4"/>
          <p:cNvSpPr/>
          <p:nvPr/>
        </p:nvSpPr>
        <p:spPr>
          <a:xfrm>
            <a:off x="8046720" y="1737360"/>
            <a:ext cx="3383280" cy="4572000"/>
          </a:xfrm>
          <a:prstGeom prst="roundRect">
            <a:avLst/>
          </a:prstGeom>
          <a:solidFill>
            <a:srgbClr val="FFFFFF"/>
          </a:solidFill>
          <a:ln w="19050">
            <a:solidFill>
              <a:srgbClr val="008AA3"/>
            </a:solidFill>
          </a:ln>
        </p:spPr>
        <p:style>
          <a:lnRef idx="1">
            <a:schemeClr val="accent1"/>
          </a:lnRef>
          <a:fillRef idx="3">
            <a:schemeClr val="accent1"/>
          </a:fillRef>
          <a:effectRef idx="2">
            <a:schemeClr val="accent1"/>
          </a:effectRef>
          <a:fontRef idx="minor">
            <a:schemeClr val="lt1"/>
          </a:fontRef>
        </p:style>
        <p:txBody>
          <a:bodyPr wrap="square" lIns="274320" tIns="274320" rIns="274320" rtlCol="0" anchor="ctr"/>
          <a:lstStyle/>
          <a:p>
            <a:pPr algn="ctr">
              <a:defRPr sz="1400" b="1">
                <a:solidFill>
                  <a:srgbClr val="00596B"/>
                </a:solidFill>
                <a:latin typeface="Arial"/>
              </a:defRPr>
            </a:pPr>
            <a:r>
              <a:t>Tier 3: Đồng Thương Hiệu Chiến Lược</a:t>
            </a:r>
            <a:br/>
            <a:r>
              <a:t>(Strategic Co-Branding)</a:t>
            </a:r>
          </a:p>
          <a:p>
            <a:pPr>
              <a:spcBef>
                <a:spcPts val="600"/>
              </a:spcBef>
              <a:defRPr sz="1150" b="1">
                <a:solidFill>
                  <a:srgbClr val="008AA3"/>
                </a:solidFill>
                <a:latin typeface="Arial"/>
              </a:defRPr>
            </a:pPr>
            <a:r>
              <a:t>Phí tham gia: Thỏa Thuận</a:t>
            </a:r>
          </a:p>
          <a:p>
            <a:pPr>
              <a:spcBef>
                <a:spcPts val="1200"/>
              </a:spcBef>
              <a:defRPr sz="1100" b="1">
                <a:solidFill>
                  <a:srgbClr val="1E293B"/>
                </a:solidFill>
                <a:latin typeface="Arial"/>
              </a:defRPr>
            </a:pPr>
            <a:r>
              <a:t>Quyền Lợi Truyền Thông:</a:t>
            </a:r>
          </a:p>
          <a:p>
            <a:pPr>
              <a:spcBef>
                <a:spcPts val="400"/>
              </a:spcBef>
              <a:defRPr sz="1000">
                <a:solidFill>
                  <a:srgbClr val="64748B"/>
                </a:solidFill>
                <a:latin typeface="Arial"/>
              </a:defRPr>
            </a:pPr>
            <a:r>
              <a:t>• 01 Video Review chuyên sâu trên Reels/TikTok</a:t>
            </a:r>
            <a:br/>
            <a:r>
              <a:t>• 01 Bài viết PR chuẩn SEO trên website</a:t>
            </a:r>
            <a:br/>
            <a:r>
              <a:t>• Đặt logo trong Guest Guide PDF gửi 100% khách</a:t>
            </a:r>
          </a:p>
          <a:p>
            <a:pPr>
              <a:spcBef>
                <a:spcPts val="1200"/>
              </a:spcBef>
              <a:defRPr sz="1100" b="1">
                <a:solidFill>
                  <a:srgbClr val="1E293B"/>
                </a:solidFill>
                <a:latin typeface="Arial"/>
              </a:defRPr>
            </a:pPr>
            <a:r>
              <a:t>Lợi Ích Tài Chính:</a:t>
            </a:r>
          </a:p>
          <a:p>
            <a:pPr>
              <a:spcBef>
                <a:spcPts val="400"/>
              </a:spcBef>
              <a:defRPr sz="1050" b="1">
                <a:solidFill>
                  <a:srgbClr val="00596B"/>
                </a:solidFill>
                <a:latin typeface="Arial"/>
              </a:defRPr>
            </a:pPr>
            <a:r>
              <a:t>Hợp tác truyền thông &amp;</a:t>
            </a:r>
            <a:br/>
            <a:r>
              <a:t>chia sẻ doanh thu chiến lược</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10698480" cy="1097280"/>
          </a:xfrm>
          <a:prstGeom prst="rect">
            <a:avLst/>
          </a:prstGeom>
          <a:noFill/>
        </p:spPr>
        <p:txBody>
          <a:bodyPr wrap="none">
            <a:spAutoFit/>
          </a:bodyPr>
          <a:lstStyle/>
          <a:p>
            <a:pPr>
              <a:defRPr sz="1100" b="1">
                <a:solidFill>
                  <a:srgbClr val="38BDF8"/>
                </a:solidFill>
                <a:latin typeface="Arial"/>
              </a:defRPr>
            </a:pPr>
            <a:r>
              <a:t>QUY TRÌNH KÝ KẾT &amp; LIÊN HỆ ĐỐI TÁC</a:t>
            </a:r>
          </a:p>
          <a:p>
            <a:pPr>
              <a:spcBef>
                <a:spcPts val="300"/>
              </a:spcBef>
              <a:defRPr sz="2300" b="1">
                <a:solidFill>
                  <a:srgbClr val="FFFFFF"/>
                </a:solidFill>
                <a:latin typeface="Arial"/>
              </a:defRPr>
            </a:pPr>
            <a:r>
              <a:t>Ba Bước Nhanh Chóng Để Khởi Động Hợp Tác</a:t>
            </a:r>
          </a:p>
        </p:txBody>
      </p:sp>
      <p:sp>
        <p:nvSpPr>
          <p:cNvPr id="3" name="Rounded Rectangle 2"/>
          <p:cNvSpPr/>
          <p:nvPr/>
        </p:nvSpPr>
        <p:spPr>
          <a:xfrm>
            <a:off x="731520" y="1737360"/>
            <a:ext cx="3383280" cy="2103120"/>
          </a:xfrm>
          <a:prstGeom prst="roundRect">
            <a:avLst/>
          </a:prstGeom>
          <a:solidFill>
            <a:srgbClr val="1E293B"/>
          </a:solidFill>
          <a:ln>
            <a:solidFill>
              <a:srgbClr val="008AA3"/>
            </a:solidFill>
          </a:ln>
        </p:spPr>
        <p:style>
          <a:lnRef idx="1">
            <a:schemeClr val="accent1"/>
          </a:lnRef>
          <a:fillRef idx="3">
            <a:schemeClr val="accent1"/>
          </a:fillRef>
          <a:effectRef idx="2">
            <a:schemeClr val="accent1"/>
          </a:effectRef>
          <a:fontRef idx="minor">
            <a:schemeClr val="lt1"/>
          </a:fontRef>
        </p:style>
        <p:txBody>
          <a:bodyPr wrap="square" lIns="274320" tIns="274320" rIns="274320" rtlCol="0" anchor="ctr"/>
          <a:lstStyle/>
          <a:p>
            <a:pPr algn="ctr">
              <a:defRPr sz="1400" b="1">
                <a:solidFill>
                  <a:srgbClr val="38BDF8"/>
                </a:solidFill>
                <a:latin typeface="Arial"/>
              </a:defRPr>
            </a:pPr>
            <a:r>
              <a:t>Bước 1: Khảo Sát &amp; Trao Đổi</a:t>
            </a:r>
          </a:p>
          <a:p>
            <a:pPr>
              <a:spcBef>
                <a:spcPts val="800"/>
              </a:spcBef>
              <a:defRPr sz="1050">
                <a:solidFill>
                  <a:srgbClr val="E2E8F0"/>
                </a:solidFill>
                <a:latin typeface="Arial"/>
              </a:defRPr>
            </a:pPr>
            <a:r>
              <a:t>Đội ngũ TravelFrame ghé thăm trực tiếp không gian của quý đối tác để thẩm định dịch vụ và thống nhất phong cách kết nối.</a:t>
            </a:r>
          </a:p>
        </p:txBody>
      </p:sp>
      <p:sp>
        <p:nvSpPr>
          <p:cNvPr id="4" name="Rounded Rectangle 3"/>
          <p:cNvSpPr/>
          <p:nvPr/>
        </p:nvSpPr>
        <p:spPr>
          <a:xfrm>
            <a:off x="4389120" y="1737360"/>
            <a:ext cx="3383280" cy="2103120"/>
          </a:xfrm>
          <a:prstGeom prst="roundRect">
            <a:avLst/>
          </a:prstGeom>
          <a:solidFill>
            <a:srgbClr val="1E293B"/>
          </a:solidFill>
          <a:ln>
            <a:solidFill>
              <a:srgbClr val="008AA3"/>
            </a:solidFill>
          </a:ln>
        </p:spPr>
        <p:style>
          <a:lnRef idx="1">
            <a:schemeClr val="accent1"/>
          </a:lnRef>
          <a:fillRef idx="3">
            <a:schemeClr val="accent1"/>
          </a:fillRef>
          <a:effectRef idx="2">
            <a:schemeClr val="accent1"/>
          </a:effectRef>
          <a:fontRef idx="minor">
            <a:schemeClr val="lt1"/>
          </a:fontRef>
        </p:style>
        <p:txBody>
          <a:bodyPr wrap="square" lIns="274320" tIns="274320" rIns="274320" rtlCol="0" anchor="ctr"/>
          <a:lstStyle/>
          <a:p>
            <a:pPr algn="ctr">
              <a:defRPr sz="1400" b="1">
                <a:solidFill>
                  <a:srgbClr val="38BDF8"/>
                </a:solidFill>
                <a:latin typeface="Arial"/>
              </a:defRPr>
            </a:pPr>
            <a:r>
              <a:t>Bước 2: Bàn Giao Ấn Phẩm</a:t>
            </a:r>
          </a:p>
          <a:p>
            <a:pPr>
              <a:spcBef>
                <a:spcPts val="800"/>
              </a:spcBef>
              <a:defRPr sz="1050">
                <a:solidFill>
                  <a:srgbClr val="E2E8F0"/>
                </a:solidFill>
                <a:latin typeface="Arial"/>
              </a:defRPr>
            </a:pPr>
            <a:r>
              <a:t>Bàn giao Standee QR, Brochure trưng bày và thực hiện buổi chụp thử nghiệm không gian/sản phẩm miễn phí.</a:t>
            </a:r>
          </a:p>
        </p:txBody>
      </p:sp>
      <p:sp>
        <p:nvSpPr>
          <p:cNvPr id="5" name="Rounded Rectangle 4"/>
          <p:cNvSpPr/>
          <p:nvPr/>
        </p:nvSpPr>
        <p:spPr>
          <a:xfrm>
            <a:off x="8046720" y="1737360"/>
            <a:ext cx="3383280" cy="2103120"/>
          </a:xfrm>
          <a:prstGeom prst="roundRect">
            <a:avLst/>
          </a:prstGeom>
          <a:solidFill>
            <a:srgbClr val="1E293B"/>
          </a:solidFill>
          <a:ln>
            <a:solidFill>
              <a:srgbClr val="008AA3"/>
            </a:solidFill>
          </a:ln>
        </p:spPr>
        <p:style>
          <a:lnRef idx="1">
            <a:schemeClr val="accent1"/>
          </a:lnRef>
          <a:fillRef idx="3">
            <a:schemeClr val="accent1"/>
          </a:fillRef>
          <a:effectRef idx="2">
            <a:schemeClr val="accent1"/>
          </a:effectRef>
          <a:fontRef idx="minor">
            <a:schemeClr val="lt1"/>
          </a:fontRef>
        </p:style>
        <p:txBody>
          <a:bodyPr wrap="square" lIns="274320" tIns="274320" rIns="274320" rtlCol="0" anchor="ctr"/>
          <a:lstStyle/>
          <a:p>
            <a:pPr algn="ctr">
              <a:defRPr sz="1400" b="1">
                <a:solidFill>
                  <a:srgbClr val="38BDF8"/>
                </a:solidFill>
                <a:latin typeface="Arial"/>
              </a:defRPr>
            </a:pPr>
            <a:r>
              <a:t>Bước 3: Đón Khách &amp; Đối Soát</a:t>
            </a:r>
          </a:p>
          <a:p>
            <a:pPr>
              <a:spcBef>
                <a:spcPts val="800"/>
              </a:spcBef>
              <a:defRPr sz="1050">
                <a:solidFill>
                  <a:srgbClr val="E2E8F0"/>
                </a:solidFill>
                <a:latin typeface="Arial"/>
              </a:defRPr>
            </a:pPr>
            <a:r>
              <a:t>Bắt đầu đón du khách quốc tế hoặc ghi nhận booking. Đối soát hoa hồng minh bạch vào ngày 05 hàng tháng qua ngân hàng.</a:t>
            </a:r>
          </a:p>
        </p:txBody>
      </p:sp>
      <p:sp>
        <p:nvSpPr>
          <p:cNvPr id="6" name="Rounded Rectangle 5"/>
          <p:cNvSpPr/>
          <p:nvPr/>
        </p:nvSpPr>
        <p:spPr>
          <a:xfrm>
            <a:off x="731520" y="4206240"/>
            <a:ext cx="10698480" cy="2103120"/>
          </a:xfrm>
          <a:prstGeom prst="roundRect">
            <a:avLst/>
          </a:prstGeom>
          <a:solidFill>
            <a:srgbClr val="00596B"/>
          </a:solidFill>
          <a:ln>
            <a:solidFill>
              <a:srgbClr val="38BDF8"/>
            </a:solidFill>
          </a:ln>
        </p:spPr>
        <p:style>
          <a:lnRef idx="1">
            <a:schemeClr val="accent1"/>
          </a:lnRef>
          <a:fillRef idx="3">
            <a:schemeClr val="accent1"/>
          </a:fillRef>
          <a:effectRef idx="2">
            <a:schemeClr val="accent1"/>
          </a:effectRef>
          <a:fontRef idx="minor">
            <a:schemeClr val="lt1"/>
          </a:fontRef>
        </p:style>
        <p:txBody>
          <a:bodyPr wrap="square" lIns="365760" tIns="365760" rIns="365760" rtlCol="0" anchor="ctr"/>
          <a:lstStyle/>
          <a:p>
            <a:pPr algn="ctr">
              <a:defRPr sz="1800" b="1">
                <a:solidFill>
                  <a:srgbClr val="FFFFFF"/>
                </a:solidFill>
                <a:latin typeface="Arial"/>
              </a:defRPr>
            </a:pPr>
            <a:r>
              <a:t>Cùng TravelFrame Nâng Tầm Trải Nghiệm Du Lịch Hà Nội</a:t>
            </a:r>
          </a:p>
          <a:p>
            <a:pPr>
              <a:spcBef>
                <a:spcPts val="400"/>
              </a:spcBef>
              <a:defRPr sz="1100">
                <a:solidFill>
                  <a:srgbClr val="E2E8F0"/>
                </a:solidFill>
                <a:latin typeface="Arial"/>
              </a:defRPr>
            </a:pPr>
            <a:r>
              <a:t>Gia nhập mạng lưới các khách sạn boutique, quán cà phê, nghệ nhân và đơn vị lữ hành uy tín hàng đầu thủ đô.</a:t>
            </a:r>
          </a:p>
          <a:p>
            <a:pPr>
              <a:spcBef>
                <a:spcPts val="1200"/>
              </a:spcBef>
              <a:defRPr sz="1200" b="1">
                <a:solidFill>
                  <a:srgbClr val="FFE050"/>
                </a:solidFill>
                <a:latin typeface="Arial"/>
              </a:defRPr>
            </a:pPr>
            <a:r>
              <a:t>📞 Hotline / Zalo Đối Tác: +84 (0) 904 888 644   •   ✉️ Email: partners@travelframe.vn   •   🌐 Website: travelframe.sidevn.com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TotalTime>
  <Words>1688</Words>
  <Application>Microsoft Macintosh PowerPoint</Application>
  <PresentationFormat>Widescreen</PresentationFormat>
  <Paragraphs>97</Paragraphs>
  <Slides>7</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Macbook</cp:lastModifiedBy>
  <cp:revision>2</cp:revision>
  <dcterms:created xsi:type="dcterms:W3CDTF">2013-01-27T09:14:16Z</dcterms:created>
  <dcterms:modified xsi:type="dcterms:W3CDTF">2026-09-17T04:24:46Z</dcterms:modified>
  <cp:category/>
</cp:coreProperties>
</file>