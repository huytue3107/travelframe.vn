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hero-cover.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097280" y="1005840"/>
            <a:ext cx="9966960" cy="4846320"/>
          </a:xfrm>
          <a:prstGeom prst="rect">
            <a:avLst/>
          </a:prstGeom>
          <a:solidFill>
            <a:srgbClr val="0F172A"/>
          </a:solidFill>
          <a:ln w="19050">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640080" rIns="640080" tIns="640080"/>
          <a:lstStyle/>
          <a:p>
            <a:pPr algn="ctr">
              <a:defRPr sz="1200" b="1">
                <a:solidFill>
                  <a:srgbClr val="38BDF8"/>
                </a:solidFill>
                <a:latin typeface="Arial"/>
              </a:defRPr>
            </a:pPr>
            <a:r>
              <a:t>TRAVELFRAME HANOI — BẢN GIỚI THIỆU DỊCH VỤ 2026</a:t>
            </a:r>
          </a:p>
          <a:p>
            <a:pPr>
              <a:spcBef>
                <a:spcPts val="1200"/>
              </a:spcBef>
              <a:defRPr sz="2800" b="1">
                <a:solidFill>
                  <a:srgbClr val="FFFFFF"/>
                </a:solidFill>
                <a:latin typeface="Arial"/>
              </a:defRPr>
            </a:pPr>
            <a:r>
              <a:t>Khám Phá Hà Nội Cùng Bạn Bản Địa,</a:t>
            </a:r>
            <a:br/>
            <a:r>
              <a:t>Lưu Giữ Kỷ Niệm Qua Từng Khung Hình Điện Ảnh</a:t>
            </a:r>
          </a:p>
          <a:p>
            <a:pPr>
              <a:spcBef>
                <a:spcPts val="1200"/>
              </a:spcBef>
              <a:defRPr sz="1350">
                <a:solidFill>
                  <a:srgbClr val="E2E8F0"/>
                </a:solidFill>
                <a:latin typeface="Arial"/>
              </a:defRPr>
            </a:pPr>
            <a:r>
              <a:t>Tour đi bộ riêng tư kết hợp cùng dịch vụ chụp ảnh nghệ thuật &amp; quay video ngắn 4K Reels/TikTok dành riêng cho du khách.</a:t>
            </a:r>
          </a:p>
          <a:p>
            <a:pPr>
              <a:spcBef>
                <a:spcPts val="1800"/>
              </a:spcBef>
              <a:defRPr sz="1100" b="1">
                <a:solidFill>
                  <a:srgbClr val="008AA3"/>
                </a:solidFill>
                <a:latin typeface="Arial"/>
              </a:defRPr>
            </a:pPr>
            <a:r>
              <a:t>✨ 100% Nhịp Đi Riêng Tư   •   ⚡ 24h Nhận Ảnh Xem Trước   •   📍 Tuyến Phố Ẩn Giấu   •   ☕ Cà Phê Đặc Sản Trọn Gói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ĐIỂM KHÁC BIỆT CỐT LÕI</a:t>
            </a:r>
          </a:p>
          <a:p>
            <a:pPr>
              <a:spcBef>
                <a:spcPts val="300"/>
              </a:spcBef>
              <a:defRPr sz="2100" b="1">
                <a:solidFill>
                  <a:srgbClr val="0F172A"/>
                </a:solidFill>
                <a:latin typeface="Arial"/>
              </a:defRPr>
            </a:pPr>
            <a:r>
              <a:t>Tạm Biệt Những Buổi Chụp Gượng Gạo &amp; Tour Ghép Vội Vã</a:t>
            </a:r>
          </a:p>
          <a:p>
            <a:pPr>
              <a:spcBef>
                <a:spcPts val="200"/>
              </a:spcBef>
              <a:defRPr sz="1150">
                <a:solidFill>
                  <a:srgbClr val="64748B"/>
                </a:solidFill>
                <a:latin typeface="Arial"/>
              </a:defRPr>
            </a:pPr>
            <a:r>
              <a:t>TravelFrame giải quyết triệt để sự thỏa hiệp mà du khách thường gặp phải khi đến Hà Nội.</a:t>
            </a:r>
          </a:p>
        </p:txBody>
      </p:sp>
      <p:sp>
        <p:nvSpPr>
          <p:cNvPr id="3" name="Rounded Rectangle 2"/>
          <p:cNvSpPr/>
          <p:nvPr/>
        </p:nvSpPr>
        <p:spPr>
          <a:xfrm>
            <a:off x="731520" y="173736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DC2626"/>
                </a:solidFill>
                <a:latin typeface="Arial"/>
              </a:defRPr>
            </a:pPr>
            <a:r>
              <a:t>❌ Nỗi Thất Vọng Khi Đi Tour Thông Thường</a:t>
            </a:r>
          </a:p>
          <a:p>
            <a:pPr>
              <a:spcBef>
                <a:spcPts val="1200"/>
              </a:spcBef>
              <a:defRPr sz="1150">
                <a:solidFill>
                  <a:srgbClr val="1E293B"/>
                </a:solidFill>
                <a:latin typeface="Arial"/>
              </a:defRPr>
            </a:pPr>
            <a:r>
              <a:t>• Tour Ghép Đông Đúc: Lịch trình cứng nhắc, dừng 15 phút vội vàng, bị ép vào các điểm bán đồ lưu niệm.</a:t>
            </a:r>
          </a:p>
          <a:p>
            <a:pPr>
              <a:spcBef>
                <a:spcPts val="1200"/>
              </a:spcBef>
              <a:defRPr sz="1150">
                <a:solidFill>
                  <a:srgbClr val="1E293B"/>
                </a:solidFill>
                <a:latin typeface="Arial"/>
              </a:defRPr>
            </a:pPr>
            <a:r>
              <a:t>• Chụp Ảnh Gượng Gạo: Thợ ảnh studio lạ lẫm, bắt tạo dáng đơ cứng, không hiểu câu chuyện văn hóa Hà Nội.</a:t>
            </a:r>
          </a:p>
          <a:p>
            <a:pPr>
              <a:spcBef>
                <a:spcPts val="1200"/>
              </a:spcBef>
              <a:defRPr sz="1150">
                <a:solidFill>
                  <a:srgbClr val="1E293B"/>
                </a:solidFill>
                <a:latin typeface="Arial"/>
              </a:defRPr>
            </a:pPr>
            <a:r>
              <a:t>• Vất Vả Tự Dựng Tripod: Tự xoay xở chân máy giữa ngõ phố đông người, dễ mất an toàn và bỏ lỡ khoảnh khắc.</a:t>
            </a:r>
          </a:p>
          <a:p>
            <a:pPr>
              <a:spcBef>
                <a:spcPts val="1200"/>
              </a:spcBef>
              <a:defRPr sz="1150">
                <a:solidFill>
                  <a:srgbClr val="1E293B"/>
                </a:solidFill>
                <a:latin typeface="Arial"/>
              </a:defRPr>
            </a:pPr>
            <a:r>
              <a:t>• Chờ Ảnh Quá Lâu: Hàng tuần sau chuyến đi mới nhận được file ảnh gốc chưa qua chọn lọc và chỉnh màu.</a:t>
            </a:r>
          </a:p>
        </p:txBody>
      </p:sp>
      <p:sp>
        <p:nvSpPr>
          <p:cNvPr id="4" name="Rounded Rectangle 3"/>
          <p:cNvSpPr/>
          <p:nvPr/>
        </p:nvSpPr>
        <p:spPr>
          <a:xfrm>
            <a:off x="6217920" y="1737360"/>
            <a:ext cx="5212080" cy="4572000"/>
          </a:xfrm>
          <a:prstGeom prst="roundRect">
            <a:avLst/>
          </a:prstGeom>
          <a:solidFill>
            <a:srgbClr val="FFFFFF"/>
          </a:solidFill>
          <a:ln w="31750">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500" b="1">
                <a:solidFill>
                  <a:srgbClr val="00596B"/>
                </a:solidFill>
                <a:latin typeface="Arial"/>
              </a:defRPr>
            </a:pPr>
            <a:r>
              <a:t>✨ Trải Nghiệm Độc Bản Cùng TravelFrame</a:t>
            </a:r>
          </a:p>
          <a:p>
            <a:pPr>
              <a:spcBef>
                <a:spcPts val="1200"/>
              </a:spcBef>
              <a:defRPr sz="1150">
                <a:solidFill>
                  <a:srgbClr val="1E293B"/>
                </a:solidFill>
                <a:latin typeface="Arial"/>
              </a:defRPr>
            </a:pPr>
            <a:r>
              <a:t>• Người Bạn Bản Địa Tri Thức: Host tiếng Anh lưu loát, am hiểu văn hóa ngõ phố, vừa kể chuyện vừa đồng hành.</a:t>
            </a:r>
          </a:p>
          <a:p>
            <a:pPr>
              <a:spcBef>
                <a:spcPts val="1200"/>
              </a:spcBef>
              <a:defRPr sz="1150">
                <a:solidFill>
                  <a:srgbClr val="1E293B"/>
                </a:solidFill>
                <a:latin typeface="Arial"/>
              </a:defRPr>
            </a:pPr>
            <a:r>
              <a:t>• Khoảnh Khắc Tự Nhiên (Candid): Hướng dẫn tư thế nhẹ nhàng, thoải mái trò chuyện để bắt trọn nụ cười tự nhiên nhất.</a:t>
            </a:r>
          </a:p>
          <a:p>
            <a:pPr>
              <a:spcBef>
                <a:spcPts val="1200"/>
              </a:spcBef>
              <a:defRPr sz="1150">
                <a:solidFill>
                  <a:srgbClr val="1E293B"/>
                </a:solidFill>
                <a:latin typeface="Arial"/>
              </a:defRPr>
            </a:pPr>
            <a:r>
              <a:t>• Thiết Bị Full-Frame Chuyên Nghiệp: Máy ảnh Sony/Canon ống kính chân dung xóa phông mịn màng và mic thu âm 4K.</a:t>
            </a:r>
          </a:p>
          <a:p>
            <a:pPr>
              <a:spcBef>
                <a:spcPts val="1200"/>
              </a:spcBef>
              <a:defRPr sz="1150">
                <a:solidFill>
                  <a:srgbClr val="1E293B"/>
                </a:solidFill>
                <a:latin typeface="Arial"/>
              </a:defRPr>
            </a:pPr>
            <a:r>
              <a:t>• 24h Nhận Ảnh Sneak Peek: Nhận ngay 3-5 tấm ảnh hero xuất sắc nhất vào ngày hôm sau để đăng mạng xã hội ngay!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ĐỊNH HƯỚNG THẨM MỸ</a:t>
            </a:r>
          </a:p>
          <a:p>
            <a:pPr>
              <a:spcBef>
                <a:spcPts val="300"/>
              </a:spcBef>
              <a:defRPr sz="2100" b="1">
                <a:solidFill>
                  <a:srgbClr val="0F172A"/>
                </a:solidFill>
                <a:latin typeface="Arial"/>
              </a:defRPr>
            </a:pPr>
            <a:r>
              <a:t>Bốn Phong Cách Trải Nghiệm &amp; Hình Ảnh Đặc Trưng</a:t>
            </a:r>
          </a:p>
          <a:p>
            <a:pPr>
              <a:spcBef>
                <a:spcPts val="200"/>
              </a:spcBef>
              <a:defRPr sz="1150">
                <a:solidFill>
                  <a:srgbClr val="64748B"/>
                </a:solidFill>
                <a:latin typeface="Arial"/>
              </a:defRPr>
            </a:pPr>
            <a:r>
              <a:t>Du khách tự do lựa chọn 1 hoặc 2 phong cách yêu thích. TravelFrame sẽ tùy biến lịch trình riêng cho bạn.</a:t>
            </a:r>
          </a:p>
        </p:txBody>
      </p:sp>
      <p:sp>
        <p:nvSpPr>
          <p:cNvPr id="3" name="Rounded Rectangle 2"/>
          <p:cNvSpPr/>
          <p:nvPr/>
        </p:nvSpPr>
        <p:spPr>
          <a:xfrm>
            <a:off x="731520" y="1737360"/>
            <a:ext cx="2468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ritage.jpg"/>
          <p:cNvPicPr>
            <a:picLocks noChangeAspect="1"/>
          </p:cNvPicPr>
          <p:nvPr/>
        </p:nvPicPr>
        <p:blipFill>
          <a:blip r:embed="rId2"/>
          <a:stretch>
            <a:fillRect/>
          </a:stretch>
        </p:blipFill>
        <p:spPr>
          <a:xfrm>
            <a:off x="731520" y="1737360"/>
            <a:ext cx="2468880" cy="2194560"/>
          </a:xfrm>
          <a:prstGeom prst="rect">
            <a:avLst/>
          </a:prstGeom>
        </p:spPr>
      </p:pic>
      <p:sp>
        <p:nvSpPr>
          <p:cNvPr id="5" name="TextBox 4"/>
          <p:cNvSpPr txBox="1"/>
          <p:nvPr/>
        </p:nvSpPr>
        <p:spPr>
          <a:xfrm>
            <a:off x="868680" y="4069080"/>
            <a:ext cx="2194560" cy="2011680"/>
          </a:xfrm>
          <a:prstGeom prst="rect">
            <a:avLst/>
          </a:prstGeom>
          <a:noFill/>
        </p:spPr>
        <p:txBody>
          <a:bodyPr wrap="square" lIns="0" tIns="0" rIns="0" bIns="0">
            <a:spAutoFit/>
          </a:bodyPr>
          <a:lstStyle/>
          <a:p>
            <a:pPr>
              <a:defRPr sz="1300" b="1">
                <a:solidFill>
                  <a:srgbClr val="00596B"/>
                </a:solidFill>
                <a:latin typeface="Arial"/>
              </a:defRPr>
            </a:pPr>
            <a:r>
              <a:t>🏛️ Heritage Hanoi</a:t>
            </a:r>
          </a:p>
          <a:p>
            <a:pPr>
              <a:spcBef>
                <a:spcPts val="600"/>
              </a:spcBef>
              <a:defRPr sz="1050">
                <a:solidFill>
                  <a:srgbClr val="64748B"/>
                </a:solidFill>
                <a:latin typeface="Arial"/>
              </a:defRPr>
            </a:pPr>
            <a:r>
              <a:t>Mái ngói đền chùa cổ kính, bức tường rêu phong Văn Miếu, chiều sâu kiến trúc ngàn năm.</a:t>
            </a:r>
          </a:p>
        </p:txBody>
      </p:sp>
      <p:sp>
        <p:nvSpPr>
          <p:cNvPr id="6" name="Rounded Rectangle 5"/>
          <p:cNvSpPr/>
          <p:nvPr/>
        </p:nvSpPr>
        <p:spPr>
          <a:xfrm>
            <a:off x="3474720" y="1737360"/>
            <a:ext cx="2468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veryday.jpg"/>
          <p:cNvPicPr>
            <a:picLocks noChangeAspect="1"/>
          </p:cNvPicPr>
          <p:nvPr/>
        </p:nvPicPr>
        <p:blipFill>
          <a:blip r:embed="rId3"/>
          <a:stretch>
            <a:fillRect/>
          </a:stretch>
        </p:blipFill>
        <p:spPr>
          <a:xfrm>
            <a:off x="3474720" y="1737360"/>
            <a:ext cx="2468880" cy="2194560"/>
          </a:xfrm>
          <a:prstGeom prst="rect">
            <a:avLst/>
          </a:prstGeom>
        </p:spPr>
      </p:pic>
      <p:sp>
        <p:nvSpPr>
          <p:cNvPr id="8" name="TextBox 7"/>
          <p:cNvSpPr txBox="1"/>
          <p:nvPr/>
        </p:nvSpPr>
        <p:spPr>
          <a:xfrm>
            <a:off x="3611880" y="4069080"/>
            <a:ext cx="2194560" cy="2011680"/>
          </a:xfrm>
          <a:prstGeom prst="rect">
            <a:avLst/>
          </a:prstGeom>
          <a:noFill/>
        </p:spPr>
        <p:txBody>
          <a:bodyPr wrap="square" lIns="0" tIns="0" rIns="0" bIns="0">
            <a:spAutoFit/>
          </a:bodyPr>
          <a:lstStyle/>
          <a:p>
            <a:pPr>
              <a:defRPr sz="1300" b="1">
                <a:solidFill>
                  <a:srgbClr val="00596B"/>
                </a:solidFill>
                <a:latin typeface="Arial"/>
              </a:defRPr>
            </a:pPr>
            <a:r>
              <a:t>☕ Everyday Hanoi</a:t>
            </a:r>
          </a:p>
          <a:p>
            <a:pPr>
              <a:spcBef>
                <a:spcPts val="600"/>
              </a:spcBef>
              <a:defRPr sz="1050">
                <a:solidFill>
                  <a:srgbClr val="64748B"/>
                </a:solidFill>
                <a:latin typeface="Arial"/>
              </a:defRPr>
            </a:pPr>
            <a:r>
              <a:t>Chợ truyền thống Đồng Xuân, ngõ cà phê trứng, Train Street an toàn, nhịp sống hè phố chân thật.</a:t>
            </a:r>
          </a:p>
        </p:txBody>
      </p:sp>
      <p:sp>
        <p:nvSpPr>
          <p:cNvPr id="9" name="Rounded Rectangle 8"/>
          <p:cNvSpPr/>
          <p:nvPr/>
        </p:nvSpPr>
        <p:spPr>
          <a:xfrm>
            <a:off x="6217920" y="1737360"/>
            <a:ext cx="2468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n-style.jpg"/>
          <p:cNvPicPr>
            <a:picLocks noChangeAspect="1"/>
          </p:cNvPicPr>
          <p:nvPr/>
        </p:nvPicPr>
        <p:blipFill>
          <a:blip r:embed="rId4"/>
          <a:stretch>
            <a:fillRect/>
          </a:stretch>
        </p:blipFill>
        <p:spPr>
          <a:xfrm>
            <a:off x="6217920" y="1737360"/>
            <a:ext cx="2468880" cy="2194560"/>
          </a:xfrm>
          <a:prstGeom prst="rect">
            <a:avLst/>
          </a:prstGeom>
        </p:spPr>
      </p:pic>
      <p:sp>
        <p:nvSpPr>
          <p:cNvPr id="11" name="TextBox 10"/>
          <p:cNvSpPr txBox="1"/>
          <p:nvPr/>
        </p:nvSpPr>
        <p:spPr>
          <a:xfrm>
            <a:off x="6355080" y="4069080"/>
            <a:ext cx="2194560" cy="2011680"/>
          </a:xfrm>
          <a:prstGeom prst="rect">
            <a:avLst/>
          </a:prstGeom>
          <a:noFill/>
        </p:spPr>
        <p:txBody>
          <a:bodyPr wrap="square" lIns="0" tIns="0" rIns="0" bIns="0">
            <a:spAutoFit/>
          </a:bodyPr>
          <a:lstStyle/>
          <a:p>
            <a:pPr>
              <a:defRPr sz="1300" b="1">
                <a:solidFill>
                  <a:srgbClr val="00596B"/>
                </a:solidFill>
                <a:latin typeface="Arial"/>
              </a:defRPr>
            </a:pPr>
            <a:r>
              <a:t>✨ Hanoi In Style</a:t>
            </a:r>
          </a:p>
          <a:p>
            <a:pPr>
              <a:spcBef>
                <a:spcPts val="600"/>
              </a:spcBef>
              <a:defRPr sz="1050">
                <a:solidFill>
                  <a:srgbClr val="64748B"/>
                </a:solidFill>
                <a:latin typeface="Arial"/>
              </a:defRPr>
            </a:pPr>
            <a:r>
              <a:t>Khu phố Pháp thanh lịch, Nhà hát Lớn, Metropole, đại lộ rợp bóng cây Phan Đình Phùng.</a:t>
            </a:r>
          </a:p>
        </p:txBody>
      </p:sp>
      <p:sp>
        <p:nvSpPr>
          <p:cNvPr id="12" name="Rounded Rectangle 11"/>
          <p:cNvSpPr/>
          <p:nvPr/>
        </p:nvSpPr>
        <p:spPr>
          <a:xfrm>
            <a:off x="8961120" y="1737360"/>
            <a:ext cx="24688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after-dark.jpg"/>
          <p:cNvPicPr>
            <a:picLocks noChangeAspect="1"/>
          </p:cNvPicPr>
          <p:nvPr/>
        </p:nvPicPr>
        <p:blipFill>
          <a:blip r:embed="rId5"/>
          <a:stretch>
            <a:fillRect/>
          </a:stretch>
        </p:blipFill>
        <p:spPr>
          <a:xfrm>
            <a:off x="8961120" y="1737360"/>
            <a:ext cx="2468880" cy="2194560"/>
          </a:xfrm>
          <a:prstGeom prst="rect">
            <a:avLst/>
          </a:prstGeom>
        </p:spPr>
      </p:pic>
      <p:sp>
        <p:nvSpPr>
          <p:cNvPr id="14" name="TextBox 13"/>
          <p:cNvSpPr txBox="1"/>
          <p:nvPr/>
        </p:nvSpPr>
        <p:spPr>
          <a:xfrm>
            <a:off x="9098280" y="4069080"/>
            <a:ext cx="2194560" cy="2011680"/>
          </a:xfrm>
          <a:prstGeom prst="rect">
            <a:avLst/>
          </a:prstGeom>
          <a:noFill/>
        </p:spPr>
        <p:txBody>
          <a:bodyPr wrap="square" lIns="0" tIns="0" rIns="0" bIns="0">
            <a:spAutoFit/>
          </a:bodyPr>
          <a:lstStyle/>
          <a:p>
            <a:pPr>
              <a:defRPr sz="1300" b="1">
                <a:solidFill>
                  <a:srgbClr val="00596B"/>
                </a:solidFill>
                <a:latin typeface="Arial"/>
              </a:defRPr>
            </a:pPr>
            <a:r>
              <a:t>🌙 Hanoi After Dark</a:t>
            </a:r>
          </a:p>
          <a:p>
            <a:pPr>
              <a:spcBef>
                <a:spcPts val="600"/>
              </a:spcBef>
              <a:defRPr sz="1050">
                <a:solidFill>
                  <a:srgbClr val="64748B"/>
                </a:solidFill>
                <a:latin typeface="Arial"/>
              </a:defRPr>
            </a:pPr>
            <a:r>
              <a:t>Hoàng hôn trên cầu Long Biên, phố đêm Tạ Hiện, ánh đèn neon phản chiếu trên mặt hồ.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BẢNG GIÁ MINH BẠCH</a:t>
            </a:r>
          </a:p>
          <a:p>
            <a:pPr>
              <a:spcBef>
                <a:spcPts val="300"/>
              </a:spcBef>
              <a:defRPr sz="2100" b="1">
                <a:solidFill>
                  <a:srgbClr val="0F172A"/>
                </a:solidFill>
                <a:latin typeface="Arial"/>
              </a:defRPr>
            </a:pPr>
            <a:r>
              <a:t>Các Gói Trải Nghiệm Riêng Tư Trọn Gói (All-Inclusive)</a:t>
            </a:r>
          </a:p>
          <a:p>
            <a:pPr>
              <a:spcBef>
                <a:spcPts val="200"/>
              </a:spcBef>
              <a:defRPr sz="1150">
                <a:solidFill>
                  <a:srgbClr val="64748B"/>
                </a:solidFill>
                <a:latin typeface="Arial"/>
              </a:defRPr>
            </a:pPr>
            <a:r>
              <a:t>Giá trọn gói cho cả nhóm riêng tư. Đã bao gồm Host/Nhiếp ảnh gia, vé tham quan, nước uống và chỉnh màu ảnh.</a:t>
            </a:r>
          </a:p>
        </p:txBody>
      </p:sp>
      <p:sp>
        <p:nvSpPr>
          <p:cNvPr id="3" name="Rounded Rectangle 2"/>
          <p:cNvSpPr/>
          <p:nvPr/>
        </p:nvSpPr>
        <p:spPr>
          <a:xfrm>
            <a:off x="731520" y="173736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F172A"/>
                </a:solidFill>
                <a:latin typeface="Arial"/>
              </a:defRPr>
            </a:pPr>
            <a:r>
              <a:t>1. Dạo Phố Nhanh (The Quick Photo Walk)</a:t>
            </a:r>
          </a:p>
          <a:p>
            <a:pPr>
              <a:spcBef>
                <a:spcPts val="400"/>
              </a:spcBef>
              <a:defRPr sz="1100">
                <a:solidFill>
                  <a:srgbClr val="64748B"/>
                </a:solidFill>
                <a:latin typeface="Arial"/>
              </a:defRPr>
            </a:pPr>
            <a:r>
              <a:t>⏱️ 2 - 2.5 Giờ (Nhóm 1 - 2 Khách)</a:t>
            </a:r>
          </a:p>
          <a:p>
            <a:pPr>
              <a:spcBef>
                <a:spcPts val="800"/>
              </a:spcBef>
              <a:defRPr sz="1500" b="1">
                <a:solidFill>
                  <a:srgbClr val="00596B"/>
                </a:solidFill>
                <a:latin typeface="Arial"/>
              </a:defRPr>
            </a:pPr>
            <a:r>
              <a:t>1.950.000 VNĐ  ($75 USD / Nhóm)</a:t>
            </a:r>
          </a:p>
          <a:p>
            <a:pPr>
              <a:spcBef>
                <a:spcPts val="600"/>
              </a:spcBef>
              <a:defRPr sz="1050">
                <a:solidFill>
                  <a:srgbClr val="1E293B"/>
                </a:solidFill>
                <a:latin typeface="Arial"/>
              </a:defRPr>
            </a:pPr>
            <a:r>
              <a:t>• 15+ Ảnh retouch nghệ thuật</a:t>
            </a:r>
          </a:p>
          <a:p>
            <a:pPr>
              <a:spcBef>
                <a:spcPts val="600"/>
              </a:spcBef>
              <a:defRPr sz="1050">
                <a:solidFill>
                  <a:srgbClr val="1E293B"/>
                </a:solidFill>
                <a:latin typeface="Arial"/>
              </a:defRPr>
            </a:pPr>
            <a:r>
              <a:t>• Toàn bộ ảnh gốc chất lượng cao</a:t>
            </a:r>
          </a:p>
          <a:p>
            <a:pPr>
              <a:spcBef>
                <a:spcPts val="600"/>
              </a:spcBef>
              <a:defRPr sz="1050">
                <a:solidFill>
                  <a:srgbClr val="1E293B"/>
                </a:solidFill>
                <a:latin typeface="Arial"/>
              </a:defRPr>
            </a:pPr>
            <a:r>
              <a:t>• 1 Ly cà phê đặc sản Hà Nội</a:t>
            </a:r>
          </a:p>
          <a:p>
            <a:pPr>
              <a:spcBef>
                <a:spcPts val="600"/>
              </a:spcBef>
              <a:defRPr sz="1050">
                <a:solidFill>
                  <a:srgbClr val="1E293B"/>
                </a:solidFill>
                <a:latin typeface="Arial"/>
              </a:defRPr>
            </a:pPr>
            <a:r>
              <a:t>• 1 Khu vực trọng tâm (Phố Cổ/Phố Pháp)</a:t>
            </a:r>
          </a:p>
          <a:p>
            <a:pPr>
              <a:spcBef>
                <a:spcPts val="600"/>
              </a:spcBef>
              <a:defRPr sz="1050">
                <a:solidFill>
                  <a:srgbClr val="1E293B"/>
                </a:solidFill>
                <a:latin typeface="Arial"/>
              </a:defRPr>
            </a:pPr>
            <a:r>
              <a:t>• Bàn giao ảnh trong 24 - 48h</a:t>
            </a:r>
          </a:p>
        </p:txBody>
      </p:sp>
      <p:sp>
        <p:nvSpPr>
          <p:cNvPr id="4" name="Rounded Rectangle 3"/>
          <p:cNvSpPr/>
          <p:nvPr/>
        </p:nvSpPr>
        <p:spPr>
          <a:xfrm>
            <a:off x="4389120" y="1737360"/>
            <a:ext cx="3383280" cy="4572000"/>
          </a:xfrm>
          <a:prstGeom prst="roundRect">
            <a:avLst/>
          </a:prstGeom>
          <a:solidFill>
            <a:srgbClr val="FBFEFF"/>
          </a:solidFill>
          <a:ln w="31750">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000" b="1">
                <a:solidFill>
                  <a:srgbClr val="008AA3"/>
                </a:solidFill>
                <a:latin typeface="Arial"/>
              </a:defRPr>
            </a:pPr>
            <a:r>
              <a:t>⭐ LỰA CHỌN PHỔ BIẾN NHẤT</a:t>
            </a:r>
          </a:p>
          <a:p>
            <a:pPr>
              <a:defRPr sz="1500" b="1">
                <a:solidFill>
                  <a:srgbClr val="0F172A"/>
                </a:solidFill>
                <a:latin typeface="Arial"/>
              </a:defRPr>
            </a:pPr>
            <a:r>
              <a:t>2. Hành Trình Câu Chuyện (Signature Story Tour)</a:t>
            </a:r>
          </a:p>
          <a:p>
            <a:pPr>
              <a:spcBef>
                <a:spcPts val="400"/>
              </a:spcBef>
              <a:defRPr sz="1100">
                <a:solidFill>
                  <a:srgbClr val="64748B"/>
                </a:solidFill>
                <a:latin typeface="Arial"/>
              </a:defRPr>
            </a:pPr>
            <a:r>
              <a:t>⏱️ 4 - 4.5 Giờ (Nhóm 1 - 3 Khách)</a:t>
            </a:r>
          </a:p>
          <a:p>
            <a:pPr>
              <a:spcBef>
                <a:spcPts val="800"/>
              </a:spcBef>
              <a:defRPr sz="1500" b="1">
                <a:solidFill>
                  <a:srgbClr val="00596B"/>
                </a:solidFill>
                <a:latin typeface="Arial"/>
              </a:defRPr>
            </a:pPr>
            <a:r>
              <a:t>4.150.000 VNĐ  ($160 USD / Nhóm)</a:t>
            </a:r>
          </a:p>
          <a:p>
            <a:pPr>
              <a:spcBef>
                <a:spcPts val="600"/>
              </a:spcBef>
              <a:defRPr sz="1050">
                <a:solidFill>
                  <a:srgbClr val="1E293B"/>
                </a:solidFill>
                <a:latin typeface="Arial"/>
              </a:defRPr>
            </a:pPr>
            <a:r>
              <a:t>• 35+ Ảnh retouch cao cấp</a:t>
            </a:r>
          </a:p>
          <a:p>
            <a:pPr>
              <a:spcBef>
                <a:spcPts val="600"/>
              </a:spcBef>
              <a:defRPr sz="1050">
                <a:solidFill>
                  <a:srgbClr val="1E293B"/>
                </a:solidFill>
                <a:latin typeface="Arial"/>
              </a:defRPr>
            </a:pPr>
            <a:r>
              <a:t>• 1 Video Reel dọc 9:16 (45s) sẵn nhạc</a:t>
            </a:r>
          </a:p>
          <a:p>
            <a:pPr>
              <a:spcBef>
                <a:spcPts val="600"/>
              </a:spcBef>
              <a:defRPr sz="1050">
                <a:solidFill>
                  <a:srgbClr val="1E293B"/>
                </a:solidFill>
                <a:latin typeface="Arial"/>
              </a:defRPr>
            </a:pPr>
            <a:r>
              <a:t>• Thưởng thức ẩm thực &amp; cà phê trứng</a:t>
            </a:r>
          </a:p>
          <a:p>
            <a:pPr>
              <a:spcBef>
                <a:spcPts val="600"/>
              </a:spcBef>
              <a:defRPr sz="1050">
                <a:solidFill>
                  <a:srgbClr val="1E293B"/>
                </a:solidFill>
                <a:latin typeface="Arial"/>
              </a:defRPr>
            </a:pPr>
            <a:r>
              <a:t>• Kết hợp 2 Moods thẩm mỹ tùy chọn</a:t>
            </a:r>
          </a:p>
          <a:p>
            <a:pPr>
              <a:spcBef>
                <a:spcPts val="600"/>
              </a:spcBef>
              <a:defRPr sz="1050">
                <a:solidFill>
                  <a:srgbClr val="1E293B"/>
                </a:solidFill>
                <a:latin typeface="Arial"/>
              </a:defRPr>
            </a:pPr>
            <a:r>
              <a:t>• ⚡ 24h Nhận Sneak Peek + 48h Gallery</a:t>
            </a:r>
          </a:p>
        </p:txBody>
      </p:sp>
      <p:sp>
        <p:nvSpPr>
          <p:cNvPr id="5" name="Rounded Rectangle 4"/>
          <p:cNvSpPr/>
          <p:nvPr/>
        </p:nvSpPr>
        <p:spPr>
          <a:xfrm>
            <a:off x="8046720" y="173736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0F172A"/>
                </a:solidFill>
                <a:latin typeface="Arial"/>
              </a:defRPr>
            </a:pPr>
            <a:r>
              <a:t>3. Khám Phá Toàn Diện (Cultural Odyssey)</a:t>
            </a:r>
          </a:p>
          <a:p>
            <a:pPr>
              <a:spcBef>
                <a:spcPts val="400"/>
              </a:spcBef>
              <a:defRPr sz="1100">
                <a:solidFill>
                  <a:srgbClr val="64748B"/>
                </a:solidFill>
                <a:latin typeface="Arial"/>
              </a:defRPr>
            </a:pPr>
            <a:r>
              <a:t>⏱️ 8 - 9 Giờ (Nhóm 2 - 6 Khách)</a:t>
            </a:r>
          </a:p>
          <a:p>
            <a:pPr>
              <a:spcBef>
                <a:spcPts val="800"/>
              </a:spcBef>
              <a:defRPr sz="1500" b="1">
                <a:solidFill>
                  <a:srgbClr val="00596B"/>
                </a:solidFill>
                <a:latin typeface="Arial"/>
              </a:defRPr>
            </a:pPr>
            <a:r>
              <a:t>7.500.000 VNĐ  ($290 USD / Nhóm)</a:t>
            </a:r>
          </a:p>
          <a:p>
            <a:pPr>
              <a:spcBef>
                <a:spcPts val="600"/>
              </a:spcBef>
              <a:defRPr sz="1050">
                <a:solidFill>
                  <a:srgbClr val="1E293B"/>
                </a:solidFill>
                <a:latin typeface="Arial"/>
              </a:defRPr>
            </a:pPr>
            <a:r>
              <a:t>• 60+ Ảnh hoàn thiện chuẩn tạp chí</a:t>
            </a:r>
          </a:p>
          <a:p>
            <a:pPr>
              <a:spcBef>
                <a:spcPts val="600"/>
              </a:spcBef>
              <a:defRPr sz="1050">
                <a:solidFill>
                  <a:srgbClr val="1E293B"/>
                </a:solidFill>
                <a:latin typeface="Arial"/>
              </a:defRPr>
            </a:pPr>
            <a:r>
              <a:t>• 1 Phim ngắn cinematic (60-90s)</a:t>
            </a:r>
          </a:p>
          <a:p>
            <a:pPr>
              <a:spcBef>
                <a:spcPts val="600"/>
              </a:spcBef>
              <a:defRPr sz="1050">
                <a:solidFill>
                  <a:srgbClr val="1E293B"/>
                </a:solidFill>
                <a:latin typeface="Arial"/>
              </a:defRPr>
            </a:pPr>
            <a:r>
              <a:t>• Xe hơi riêng đời mới trọn ngày</a:t>
            </a:r>
          </a:p>
          <a:p>
            <a:pPr>
              <a:spcBef>
                <a:spcPts val="600"/>
              </a:spcBef>
              <a:defRPr sz="1050">
                <a:solidFill>
                  <a:srgbClr val="1E293B"/>
                </a:solidFill>
                <a:latin typeface="Arial"/>
              </a:defRPr>
            </a:pPr>
            <a:r>
              <a:t>• Làng gốm Bát Tràng hoặc Làng hương</a:t>
            </a:r>
          </a:p>
          <a:p>
            <a:pPr>
              <a:spcBef>
                <a:spcPts val="600"/>
              </a:spcBef>
              <a:defRPr sz="1050">
                <a:solidFill>
                  <a:srgbClr val="1E293B"/>
                </a:solidFill>
                <a:latin typeface="Arial"/>
              </a:defRPr>
            </a:pPr>
            <a:r>
              <a:t>• Bữa trưa ẩm thực truyền thống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HỆ SINH THÁI TRUYỀN THÔNG</a:t>
            </a:r>
          </a:p>
          <a:p>
            <a:pPr>
              <a:spcBef>
                <a:spcPts val="300"/>
              </a:spcBef>
              <a:defRPr sz="2100" b="1">
                <a:solidFill>
                  <a:srgbClr val="0F172A"/>
                </a:solidFill>
                <a:latin typeface="Arial"/>
              </a:defRPr>
            </a:pPr>
            <a:r>
              <a:t>Mạng Lưới Kênh Mạng Xã Hội Của TravelFrame</a:t>
            </a:r>
          </a:p>
          <a:p>
            <a:pPr>
              <a:spcBef>
                <a:spcPts val="200"/>
              </a:spcBef>
              <a:defRPr sz="1150">
                <a:solidFill>
                  <a:srgbClr val="64748B"/>
                </a:solidFill>
                <a:latin typeface="Arial"/>
              </a:defRPr>
            </a:pPr>
            <a:r>
              <a:t>Nơi du khách quốc tế tìm kiếm cảm hứng, cập nhật cẩm nang du lịch và đặt tour trải nghiệm tại Hà Nội.</a:t>
            </a:r>
          </a:p>
        </p:txBody>
      </p:sp>
      <p:sp>
        <p:nvSpPr>
          <p:cNvPr id="3" name="Rounded Rectangle 2"/>
          <p:cNvSpPr/>
          <p:nvPr/>
        </p:nvSpPr>
        <p:spPr>
          <a:xfrm>
            <a:off x="731520" y="173736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596B"/>
                </a:solidFill>
                <a:latin typeface="Arial"/>
              </a:defRPr>
            </a:pPr>
            <a:r>
              <a:t>📸 Instagram</a:t>
            </a:r>
          </a:p>
          <a:p>
            <a:pPr>
              <a:spcBef>
                <a:spcPts val="200"/>
              </a:spcBef>
              <a:defRPr sz="1100" b="1">
                <a:solidFill>
                  <a:srgbClr val="008AA3"/>
                </a:solidFill>
                <a:latin typeface="Arial"/>
              </a:defRPr>
            </a:pPr>
            <a:r>
              <a:t>@travelframe.vn</a:t>
            </a:r>
          </a:p>
          <a:p>
            <a:pPr>
              <a:spcBef>
                <a:spcPts val="600"/>
              </a:spcBef>
              <a:defRPr sz="1000">
                <a:solidFill>
                  <a:srgbClr val="1E293B"/>
                </a:solidFill>
                <a:latin typeface="Arial"/>
              </a:defRPr>
            </a:pPr>
            <a:r>
              <a:t>Kênh lõi phân phối video Reels &amp; nhiếp ảnh nghệ thuật. Hơn 41.900+ views/tháng từ du khách quốc tế.</a:t>
            </a:r>
          </a:p>
        </p:txBody>
      </p:sp>
      <p:sp>
        <p:nvSpPr>
          <p:cNvPr id="4" name="Rounded Rectangle 3"/>
          <p:cNvSpPr/>
          <p:nvPr/>
        </p:nvSpPr>
        <p:spPr>
          <a:xfrm>
            <a:off x="4389120" y="173736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596B"/>
                </a:solidFill>
                <a:latin typeface="Arial"/>
              </a:defRPr>
            </a:pPr>
            <a:r>
              <a:t>📘 Facebook Fanpage</a:t>
            </a:r>
          </a:p>
          <a:p>
            <a:pPr>
              <a:spcBef>
                <a:spcPts val="200"/>
              </a:spcBef>
              <a:defRPr sz="1100" b="1">
                <a:solidFill>
                  <a:srgbClr val="008AA3"/>
                </a:solidFill>
                <a:latin typeface="Arial"/>
              </a:defRPr>
            </a:pPr>
            <a:r>
              <a:t>TravelFrame Hanoi</a:t>
            </a:r>
          </a:p>
          <a:p>
            <a:pPr>
              <a:spcBef>
                <a:spcPts val="600"/>
              </a:spcBef>
              <a:defRPr sz="1000">
                <a:solidFill>
                  <a:srgbClr val="1E293B"/>
                </a:solidFill>
                <a:latin typeface="Arial"/>
              </a:defRPr>
            </a:pPr>
            <a:r>
              <a:t>Cổng kết nối cộng đồng, chia sẻ lịch trình du lịch, đánh giá của du khách và đặt tour trực tiếp.</a:t>
            </a:r>
          </a:p>
        </p:txBody>
      </p:sp>
      <p:sp>
        <p:nvSpPr>
          <p:cNvPr id="5" name="Rounded Rectangle 4"/>
          <p:cNvSpPr/>
          <p:nvPr/>
        </p:nvSpPr>
        <p:spPr>
          <a:xfrm>
            <a:off x="8046720" y="173736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596B"/>
                </a:solidFill>
                <a:latin typeface="Arial"/>
              </a:defRPr>
            </a:pPr>
            <a:r>
              <a:t>🎵 TikTok</a:t>
            </a:r>
          </a:p>
          <a:p>
            <a:pPr>
              <a:spcBef>
                <a:spcPts val="200"/>
              </a:spcBef>
              <a:defRPr sz="1100" b="1">
                <a:solidFill>
                  <a:srgbClr val="008AA3"/>
                </a:solidFill>
                <a:latin typeface="Arial"/>
              </a:defRPr>
            </a:pPr>
            <a:r>
              <a:t>@travelframe.vn</a:t>
            </a:r>
          </a:p>
          <a:p>
            <a:pPr>
              <a:spcBef>
                <a:spcPts val="600"/>
              </a:spcBef>
              <a:defRPr sz="1000">
                <a:solidFill>
                  <a:srgbClr val="1E293B"/>
                </a:solidFill>
                <a:latin typeface="Arial"/>
              </a:defRPr>
            </a:pPr>
            <a:r>
              <a:t>Kênh video ngắn bắt trọn xu hướng ẩm thực ngõ nhỏ, cà phê đường tàu và góc check-in ít người biết.</a:t>
            </a:r>
          </a:p>
        </p:txBody>
      </p:sp>
      <p:sp>
        <p:nvSpPr>
          <p:cNvPr id="6" name="Rounded Rectangle 5"/>
          <p:cNvSpPr/>
          <p:nvPr/>
        </p:nvSpPr>
        <p:spPr>
          <a:xfrm>
            <a:off x="731520" y="411480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596B"/>
                </a:solidFill>
                <a:latin typeface="Arial"/>
              </a:defRPr>
            </a:pPr>
            <a:r>
              <a:t>🧵 Threads</a:t>
            </a:r>
          </a:p>
          <a:p>
            <a:pPr>
              <a:spcBef>
                <a:spcPts val="200"/>
              </a:spcBef>
              <a:defRPr sz="1100" b="1">
                <a:solidFill>
                  <a:srgbClr val="008AA3"/>
                </a:solidFill>
                <a:latin typeface="Arial"/>
              </a:defRPr>
            </a:pPr>
            <a:r>
              <a:t>@travelframe.vn</a:t>
            </a:r>
          </a:p>
          <a:p>
            <a:pPr>
              <a:spcBef>
                <a:spcPts val="600"/>
              </a:spcBef>
              <a:defRPr sz="1000">
                <a:solidFill>
                  <a:srgbClr val="1E293B"/>
                </a:solidFill>
                <a:latin typeface="Arial"/>
              </a:defRPr>
            </a:pPr>
            <a:r>
              <a:t>Chia sẻ mẹo du lịch thực tế, giải đáp nhanh các thắc mắc về thời tiết, di chuyển, giá cả cho khách.</a:t>
            </a:r>
          </a:p>
        </p:txBody>
      </p:sp>
      <p:sp>
        <p:nvSpPr>
          <p:cNvPr id="7" name="Rounded Rectangle 6"/>
          <p:cNvSpPr/>
          <p:nvPr/>
        </p:nvSpPr>
        <p:spPr>
          <a:xfrm>
            <a:off x="4389120" y="411480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596B"/>
                </a:solidFill>
                <a:latin typeface="Arial"/>
              </a:defRPr>
            </a:pPr>
            <a:r>
              <a:t>🌐 Website &amp; SEO Hub</a:t>
            </a:r>
          </a:p>
          <a:p>
            <a:pPr>
              <a:spcBef>
                <a:spcPts val="200"/>
              </a:spcBef>
              <a:defRPr sz="1100" b="1">
                <a:solidFill>
                  <a:srgbClr val="008AA3"/>
                </a:solidFill>
                <a:latin typeface="Arial"/>
              </a:defRPr>
            </a:pPr>
            <a:r>
              <a:t>travelframe.sidevn.com</a:t>
            </a:r>
          </a:p>
          <a:p>
            <a:pPr>
              <a:spcBef>
                <a:spcPts val="600"/>
              </a:spcBef>
              <a:defRPr sz="1000">
                <a:solidFill>
                  <a:srgbClr val="1E293B"/>
                </a:solidFill>
                <a:latin typeface="Arial"/>
              </a:defRPr>
            </a:pPr>
            <a:r>
              <a:t>Cẩm nang ẩm thực phố cổ, điểm chụp ảnh đẹp nhất, booking configurator và chính sách minh bạch.</a:t>
            </a:r>
          </a:p>
        </p:txBody>
      </p:sp>
      <p:sp>
        <p:nvSpPr>
          <p:cNvPr id="8" name="Rounded Rectangle 7"/>
          <p:cNvSpPr/>
          <p:nvPr/>
        </p:nvSpPr>
        <p:spPr>
          <a:xfrm>
            <a:off x="8046720" y="4114800"/>
            <a:ext cx="3383280" cy="20116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400" b="1">
                <a:solidFill>
                  <a:srgbClr val="00596B"/>
                </a:solidFill>
                <a:latin typeface="Arial"/>
              </a:defRPr>
            </a:pPr>
            <a:r>
              <a:t>🎬 YouTube Shorts</a:t>
            </a:r>
          </a:p>
          <a:p>
            <a:pPr>
              <a:spcBef>
                <a:spcPts val="200"/>
              </a:spcBef>
              <a:defRPr sz="1100" b="1">
                <a:solidFill>
                  <a:srgbClr val="008AA3"/>
                </a:solidFill>
                <a:latin typeface="Arial"/>
              </a:defRPr>
            </a:pPr>
            <a:r>
              <a:t>@TravelFrameVN</a:t>
            </a:r>
          </a:p>
          <a:p>
            <a:pPr>
              <a:spcBef>
                <a:spcPts val="600"/>
              </a:spcBef>
              <a:defRPr sz="1000">
                <a:solidFill>
                  <a:srgbClr val="1E293B"/>
                </a:solidFill>
                <a:latin typeface="Arial"/>
              </a:defRPr>
            </a:pPr>
            <a:r>
              <a:t>Thước phim 4K chất lượng điện ảnh, giới thiệu vẻ đẹp văn hóa và con người Hà Nội tới bạn bè quốc tế.</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TextBox 1"/>
          <p:cNvSpPr txBox="1"/>
          <p:nvPr/>
        </p:nvSpPr>
        <p:spPr>
          <a:xfrm>
            <a:off x="731520" y="411480"/>
            <a:ext cx="10698480" cy="1097280"/>
          </a:xfrm>
          <a:prstGeom prst="rect">
            <a:avLst/>
          </a:prstGeom>
          <a:noFill/>
        </p:spPr>
        <p:txBody>
          <a:bodyPr wrap="square" lIns="0" tIns="0" rIns="0" bIns="0">
            <a:spAutoFit/>
          </a:bodyPr>
          <a:lstStyle/>
          <a:p>
            <a:pPr>
              <a:defRPr sz="1100" b="1">
                <a:solidFill>
                  <a:srgbClr val="008AA3"/>
                </a:solidFill>
                <a:latin typeface="Arial"/>
              </a:defRPr>
            </a:pPr>
            <a:r>
              <a:t>BẰNG CHỨNG THỰC TẾ &amp; TESTIMONIALS</a:t>
            </a:r>
          </a:p>
          <a:p>
            <a:pPr>
              <a:spcBef>
                <a:spcPts val="300"/>
              </a:spcBef>
              <a:defRPr sz="2100" b="1">
                <a:solidFill>
                  <a:srgbClr val="0F172A"/>
                </a:solidFill>
                <a:latin typeface="Arial"/>
              </a:defRPr>
            </a:pPr>
            <a:r>
              <a:t>Content Win Của TravelFrame Là Bảo Chứng Cho Niềm Tin</a:t>
            </a:r>
          </a:p>
          <a:p>
            <a:pPr>
              <a:spcBef>
                <a:spcPts val="200"/>
              </a:spcBef>
              <a:defRPr sz="1150">
                <a:solidFill>
                  <a:srgbClr val="64748B"/>
                </a:solidFill>
                <a:latin typeface="Arial"/>
              </a:defRPr>
            </a:pPr>
            <a:r>
              <a:t>Những video hữu ích đạt hàng chục ngàn lượt xem đi kèm phản hồi thực chất từ du khách quốc tế.</a:t>
            </a:r>
          </a:p>
        </p:txBody>
      </p:sp>
      <p:sp>
        <p:nvSpPr>
          <p:cNvPr id="3" name="Rounded Rectangle 2"/>
          <p:cNvSpPr/>
          <p:nvPr/>
        </p:nvSpPr>
        <p:spPr>
          <a:xfrm>
            <a:off x="731520" y="1737360"/>
            <a:ext cx="10698480" cy="137160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50" b="1">
                <a:solidFill>
                  <a:srgbClr val="00596B"/>
                </a:solidFill>
                <a:latin typeface="Arial"/>
              </a:defRPr>
            </a:pPr>
            <a:r>
              <a:t>🎬 Content Win #1: Video '5 Tourist Scams You Need to Avoid in Hanoi' (14.900 views, 126 shares)</a:t>
            </a:r>
          </a:p>
          <a:p>
            <a:pPr>
              <a:spcBef>
                <a:spcPts val="300"/>
              </a:spcBef>
              <a:defRPr sz="1050" i="1">
                <a:solidFill>
                  <a:srgbClr val="1E293B"/>
                </a:solidFill>
                <a:latin typeface="Arial"/>
              </a:defRPr>
            </a:pPr>
            <a:r>
              <a:t>"Nhờ video này mà tụi mình tránh được taxi dù chặt chém và hàng rong ép giá ở Phố Cổ. Khi book tour cùng TravelFrame, Host Mike đưa đi ăn đúng những quán bún chả, bánh mì địa phương ngon nhất mà giá cực kỳ hạt dẻ!"</a:t>
            </a:r>
          </a:p>
          <a:p>
            <a:pPr>
              <a:spcBef>
                <a:spcPts val="300"/>
              </a:spcBef>
              <a:defRPr sz="1000" b="1">
                <a:solidFill>
                  <a:srgbClr val="008AA3"/>
                </a:solidFill>
                <a:latin typeface="Arial"/>
              </a:defRPr>
            </a:pPr>
            <a:r>
              <a:t>— Sarah &amp; Liam (Du khách từ Melbourne, Úc)</a:t>
            </a:r>
          </a:p>
        </p:txBody>
      </p:sp>
      <p:sp>
        <p:nvSpPr>
          <p:cNvPr id="4" name="Rounded Rectangle 3"/>
          <p:cNvSpPr/>
          <p:nvPr/>
        </p:nvSpPr>
        <p:spPr>
          <a:xfrm>
            <a:off x="731520" y="3291840"/>
            <a:ext cx="10698480" cy="137160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50" b="1">
                <a:solidFill>
                  <a:srgbClr val="00596B"/>
                </a:solidFill>
                <a:latin typeface="Arial"/>
              </a:defRPr>
            </a:pPr>
            <a:r>
              <a:t>🎬 Content Win #2: Video 'Hanoi Train Street 2026 Quick Guide' (4.400 views, Share rate 1,82%)</a:t>
            </a:r>
          </a:p>
          <a:p>
            <a:pPr>
              <a:spcBef>
                <a:spcPts val="300"/>
              </a:spcBef>
              <a:defRPr sz="1050" i="1">
                <a:solidFill>
                  <a:srgbClr val="1E293B"/>
                </a:solidFill>
                <a:latin typeface="Arial"/>
              </a:defRPr>
            </a:pPr>
            <a:r>
              <a:t>"Xem video hướng dẫn giờ tàu chạy của TravelFrame rồi book luôn tour buổi chiều. Được Host dẫn vào đúng quán cà phê view ban công tuyệt đẹp tầng 2, uống cà phê trứng ngắm tàu chạy an toàn mà không bị ai chèo kéo!"</a:t>
            </a:r>
          </a:p>
          <a:p>
            <a:pPr>
              <a:spcBef>
                <a:spcPts val="300"/>
              </a:spcBef>
              <a:defRPr sz="1000" b="1">
                <a:solidFill>
                  <a:srgbClr val="008AA3"/>
                </a:solidFill>
                <a:latin typeface="Arial"/>
              </a:defRPr>
            </a:pPr>
            <a:r>
              <a:t>— Jennifer K. (Solo Traveler từ California, Mỹ)</a:t>
            </a:r>
          </a:p>
        </p:txBody>
      </p:sp>
      <p:sp>
        <p:nvSpPr>
          <p:cNvPr id="5" name="Rounded Rectangle 4"/>
          <p:cNvSpPr/>
          <p:nvPr/>
        </p:nvSpPr>
        <p:spPr>
          <a:xfrm>
            <a:off x="731520" y="4846320"/>
            <a:ext cx="10698480" cy="1371600"/>
          </a:xfrm>
          <a:prstGeom prst="roundRect">
            <a:avLst/>
          </a:prstGeom>
          <a:solidFill>
            <a:srgbClr val="FFFFFF"/>
          </a:solidFill>
          <a:ln>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64592"/>
          <a:lstStyle/>
          <a:p>
            <a:pPr algn="ctr">
              <a:defRPr sz="1150" b="1">
                <a:solidFill>
                  <a:srgbClr val="00596B"/>
                </a:solidFill>
                <a:latin typeface="Arial"/>
              </a:defRPr>
            </a:pPr>
            <a:r>
              <a:t>🎬 Content Win #3: Video 'POV: Secret Alleys &amp; Coffee Culture' (7.300 views, 24 bình luận)</a:t>
            </a:r>
          </a:p>
          <a:p>
            <a:pPr>
              <a:spcBef>
                <a:spcPts val="300"/>
              </a:spcBef>
              <a:defRPr sz="1050" i="1">
                <a:solidFill>
                  <a:srgbClr val="1E293B"/>
                </a:solidFill>
                <a:latin typeface="Arial"/>
              </a:defRPr>
            </a:pPr>
            <a:r>
              <a:t>"Host dẫn tụi mình luồn qua những con ngõ nhỏ rêu phong mà du khách bình thường không bao giờ biết. Bộ ảnh và video Reel dọc 4K nhận được ngay sau 24h đẹp như cảnh trong phim điện ảnh!"</a:t>
            </a:r>
          </a:p>
          <a:p>
            <a:pPr>
              <a:spcBef>
                <a:spcPts val="300"/>
              </a:spcBef>
              <a:defRPr sz="1000" b="1">
                <a:solidFill>
                  <a:srgbClr val="008AA3"/>
                </a:solidFill>
                <a:latin typeface="Arial"/>
              </a:defRPr>
            </a:pPr>
            <a:r>
              <a:t>— Alex &amp; Marcus (Travel Creators từ London, Anh)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none">
            <a:spAutoFit/>
          </a:bodyPr>
          <a:lstStyle/>
          <a:p>
            <a:pPr>
              <a:defRPr sz="1100" b="1">
                <a:solidFill>
                  <a:srgbClr val="38BDF8"/>
                </a:solidFill>
                <a:latin typeface="Arial"/>
              </a:defRPr>
            </a:pPr>
            <a:r>
              <a:t>QUY TRÌNH ĐẶT TOUR &amp; CAM KẾT CHẤT LƯỢNG</a:t>
            </a:r>
          </a:p>
          <a:p>
            <a:pPr>
              <a:spcBef>
                <a:spcPts val="300"/>
              </a:spcBef>
              <a:defRPr sz="2300" b="1">
                <a:solidFill>
                  <a:srgbClr val="FFFFFF"/>
                </a:solidFill>
                <a:latin typeface="Arial"/>
              </a:defRPr>
            </a:pPr>
            <a:r>
              <a:t>Ba Bước Tinh Gọn Để Lưu Giữ Kỷ Niệm Cùng TravelFrame</a:t>
            </a:r>
          </a:p>
        </p:txBody>
      </p:sp>
      <p:sp>
        <p:nvSpPr>
          <p:cNvPr id="3" name="Rounded Rectangle 2"/>
          <p:cNvSpPr/>
          <p:nvPr/>
        </p:nvSpPr>
        <p:spPr>
          <a:xfrm>
            <a:off x="731520" y="1737360"/>
            <a:ext cx="3383280" cy="2103120"/>
          </a:xfrm>
          <a:prstGeom prst="roundRect">
            <a:avLst/>
          </a:prstGeom>
          <a:solidFill>
            <a:srgbClr val="1E293B"/>
          </a:solidFill>
          <a:ln>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400" b="1">
                <a:solidFill>
                  <a:srgbClr val="38BDF8"/>
                </a:solidFill>
                <a:latin typeface="Arial"/>
              </a:defRPr>
            </a:pPr>
            <a:r>
              <a:t>Bước 1: Chọn Phong Cách</a:t>
            </a:r>
          </a:p>
          <a:p>
            <a:pPr>
              <a:spcBef>
                <a:spcPts val="800"/>
              </a:spcBef>
              <a:defRPr sz="1050">
                <a:solidFill>
                  <a:srgbClr val="E2E8F0"/>
                </a:solidFill>
                <a:latin typeface="Arial"/>
              </a:defRPr>
            </a:pPr>
            <a:r>
              <a:t>Lựa chọn ngày đi, số lượng khách và 1-2 Moods yêu thích (Heritage, Everyday, In Style, After Dark).</a:t>
            </a:r>
          </a:p>
        </p:txBody>
      </p:sp>
      <p:sp>
        <p:nvSpPr>
          <p:cNvPr id="4" name="Rounded Rectangle 3"/>
          <p:cNvSpPr/>
          <p:nvPr/>
        </p:nvSpPr>
        <p:spPr>
          <a:xfrm>
            <a:off x="4389120" y="1737360"/>
            <a:ext cx="3383280" cy="2103120"/>
          </a:xfrm>
          <a:prstGeom prst="roundRect">
            <a:avLst/>
          </a:prstGeom>
          <a:solidFill>
            <a:srgbClr val="1E293B"/>
          </a:solidFill>
          <a:ln>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400" b="1">
                <a:solidFill>
                  <a:srgbClr val="38BDF8"/>
                </a:solidFill>
                <a:latin typeface="Arial"/>
              </a:defRPr>
            </a:pPr>
            <a:r>
              <a:t>Bước 2: Tinh Chỉnh Cùng Host</a:t>
            </a:r>
          </a:p>
          <a:p>
            <a:pPr>
              <a:spcBef>
                <a:spcPts val="800"/>
              </a:spcBef>
              <a:defRPr sz="1050">
                <a:solidFill>
                  <a:srgbClr val="E2E8F0"/>
                </a:solidFill>
                <a:latin typeface="Arial"/>
              </a:defRPr>
            </a:pPr>
            <a:r>
              <a:t>Nhắn tin qua WhatsApp hoặc Instagram DM để xác nhận địa điểm đón tại khách sạn, khung giờ và yêu cầu riêng.</a:t>
            </a:r>
          </a:p>
        </p:txBody>
      </p:sp>
      <p:sp>
        <p:nvSpPr>
          <p:cNvPr id="5" name="Rounded Rectangle 4"/>
          <p:cNvSpPr/>
          <p:nvPr/>
        </p:nvSpPr>
        <p:spPr>
          <a:xfrm>
            <a:off x="8046720" y="1737360"/>
            <a:ext cx="3383280" cy="2103120"/>
          </a:xfrm>
          <a:prstGeom prst="roundRect">
            <a:avLst/>
          </a:prstGeom>
          <a:solidFill>
            <a:srgbClr val="1E293B"/>
          </a:solidFill>
          <a:ln>
            <a:solidFill>
              <a:srgbClr val="008AA3"/>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400" b="1">
                <a:solidFill>
                  <a:srgbClr val="38BDF8"/>
                </a:solidFill>
                <a:latin typeface="Arial"/>
              </a:defRPr>
            </a:pPr>
            <a:r>
              <a:t>Bước 3: Tận Hưởng &amp; Nhận Ảnh</a:t>
            </a:r>
          </a:p>
          <a:p>
            <a:pPr>
              <a:spcBef>
                <a:spcPts val="800"/>
              </a:spcBef>
              <a:defRPr sz="1050">
                <a:solidFill>
                  <a:srgbClr val="E2E8F0"/>
                </a:solidFill>
                <a:latin typeface="Arial"/>
              </a:defRPr>
            </a:pPr>
            <a:r>
              <a:t>Gặp gỡ Host tại khách sạn. Nhận 3-5 ảnh sneak peek trong 24h và trọn bộ gallery bảo mật trong 48h.</a:t>
            </a:r>
          </a:p>
        </p:txBody>
      </p:sp>
      <p:sp>
        <p:nvSpPr>
          <p:cNvPr id="6" name="Rounded Rectangle 5"/>
          <p:cNvSpPr/>
          <p:nvPr/>
        </p:nvSpPr>
        <p:spPr>
          <a:xfrm>
            <a:off x="731520" y="4206240"/>
            <a:ext cx="10698480" cy="2103120"/>
          </a:xfrm>
          <a:prstGeom prst="roundRect">
            <a:avLst/>
          </a:prstGeom>
          <a:solidFill>
            <a:srgbClr val="00596B"/>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sz="1800" b="1">
                <a:solidFill>
                  <a:srgbClr val="FFFFFF"/>
                </a:solidFill>
                <a:latin typeface="Arial"/>
              </a:defRPr>
            </a:pPr>
            <a:r>
              <a:t>Sẵn Sàng Biến Chuyến Đi Hà Nội Của Bạn Thành Thước Phim Điện Ảnh?</a:t>
            </a:r>
          </a:p>
          <a:p>
            <a:pPr>
              <a:spcBef>
                <a:spcPts val="400"/>
              </a:spcBef>
              <a:defRPr sz="1100">
                <a:solidFill>
                  <a:srgbClr val="E2E8F0"/>
                </a:solidFill>
                <a:latin typeface="Arial"/>
              </a:defRPr>
            </a:pPr>
            <a:r>
              <a:t>Mỗi Host chỉ nhận tối đa 2 tour/ngày để đảm bảo chất lượng và sự chu đáo tối đa. Miễn phí hủy tour trước 48 giờ.</a:t>
            </a:r>
          </a:p>
          <a:p>
            <a:pPr>
              <a:spcBef>
                <a:spcPts val="1200"/>
              </a:spcBef>
              <a:defRPr sz="1200" b="1">
                <a:solidFill>
                  <a:srgbClr val="FFE050"/>
                </a:solidFill>
                <a:latin typeface="Arial"/>
              </a:defRPr>
            </a:pPr>
            <a:r>
              <a:t>💬 WhatsApp Concierge: +84 (0) 904 888 644   •   📸 Instagram: @travelframe.vn   •   🌐 Website: travelframe.sidevn.com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