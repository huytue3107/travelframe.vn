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1b8ade70ac4303" /><Relationship Type="http://schemas.openxmlformats.org/officeDocument/2006/relationships/extended-properties" Target="/docProps/app.xml" Id="R013238fa50fc427e" /><Relationship Type="http://schemas.openxmlformats.org/officeDocument/2006/relationships/officeDocument" Target="/ppt/presentation.xml" Id="R13f075e1ebcd43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53ceb2d3194ecd"/>
  </p:sldMasterIdLst>
  <p:notesMasterIdLst>
    <p:notesMasterId xmlns:r="http://schemas.openxmlformats.org/officeDocument/2006/relationships" r:id="Rf8b4efcaf2e7478b"/>
  </p:notesMasterIdLst>
  <p:sldIdLst>
    <p:sldId xmlns:r="http://schemas.openxmlformats.org/officeDocument/2006/relationships" id="256" r:id="Ra8d24adde6f64f78"/>
    <p:sldId xmlns:r="http://schemas.openxmlformats.org/officeDocument/2006/relationships" id="257" r:id="Re358888ebab5484e"/>
    <p:sldId xmlns:r="http://schemas.openxmlformats.org/officeDocument/2006/relationships" id="258" r:id="R680fc3eef79348cf"/>
    <p:sldId xmlns:r="http://schemas.openxmlformats.org/officeDocument/2006/relationships" id="259" r:id="Rfe721889432b4431"/>
    <p:sldId xmlns:r="http://schemas.openxmlformats.org/officeDocument/2006/relationships" id="260" r:id="R7a13aee4cca64c64"/>
    <p:sldId xmlns:r="http://schemas.openxmlformats.org/officeDocument/2006/relationships" id="261" r:id="R6a6ed4e60bb0419a"/>
    <p:sldId xmlns:r="http://schemas.openxmlformats.org/officeDocument/2006/relationships" id="262" r:id="R2f4454f9fd014b29"/>
    <p:sldId xmlns:r="http://schemas.openxmlformats.org/officeDocument/2006/relationships" id="263" r:id="Rb662d68f0056423c"/>
    <p:sldId xmlns:r="http://schemas.openxmlformats.org/officeDocument/2006/relationships" id="264" r:id="R9f0dce2ce83b499e"/>
    <p:sldId xmlns:r="http://schemas.openxmlformats.org/officeDocument/2006/relationships" id="265" r:id="Re51c01f9928741fa"/>
  </p:sldIdLst>
  <p:sldSz cx="7559985" cy="10691988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bc269341a84fdf" /><Relationship Type="http://schemas.openxmlformats.org/officeDocument/2006/relationships/slideMaster" Target="/ppt/slideMasters/slideMaster1.xml" Id="Rd053ceb2d3194ecd" /><Relationship Type="http://schemas.openxmlformats.org/officeDocument/2006/relationships/notesMaster" Target="/ppt/notesMasters/notesMaster1.xml" Id="Rf8b4efcaf2e7478b" /><Relationship Type="http://schemas.openxmlformats.org/officeDocument/2006/relationships/presProps" Target="/ppt/presProps.xml" Id="Raa2b275e63b74bba" /><Relationship Type="http://schemas.openxmlformats.org/officeDocument/2006/relationships/tableStyles" Target="/ppt/tableStyles.xml" Id="Rb037976bd5fc4382" /><Relationship Type="http://schemas.openxmlformats.org/officeDocument/2006/relationships/slide" Target="/ppt/slides/slide1.xml" Id="Ra8d24adde6f64f78" /><Relationship Type="http://schemas.openxmlformats.org/officeDocument/2006/relationships/slide" Target="/ppt/slides/slide2.xml" Id="Re358888ebab5484e" /><Relationship Type="http://schemas.openxmlformats.org/officeDocument/2006/relationships/slide" Target="/ppt/slides/slide3.xml" Id="R680fc3eef79348cf" /><Relationship Type="http://schemas.openxmlformats.org/officeDocument/2006/relationships/slide" Target="/ppt/slides/slide4.xml" Id="Rfe721889432b4431" /><Relationship Type="http://schemas.openxmlformats.org/officeDocument/2006/relationships/slide" Target="/ppt/slides/slide5.xml" Id="R7a13aee4cca64c64" /><Relationship Type="http://schemas.openxmlformats.org/officeDocument/2006/relationships/slide" Target="/ppt/slides/slide6.xml" Id="R6a6ed4e60bb0419a" /><Relationship Type="http://schemas.openxmlformats.org/officeDocument/2006/relationships/slide" Target="/ppt/slides/slide7.xml" Id="R2f4454f9fd014b29" /><Relationship Type="http://schemas.openxmlformats.org/officeDocument/2006/relationships/slide" Target="/ppt/slides/slide8.xml" Id="Rb662d68f0056423c" /><Relationship Type="http://schemas.openxmlformats.org/officeDocument/2006/relationships/slide" Target="/ppt/slides/slide9.xml" Id="R9f0dce2ce83b499e" /><Relationship Type="http://schemas.openxmlformats.org/officeDocument/2006/relationships/slide" Target="/ppt/slides/slide10.xml" Id="Re51c01f9928741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eb3f2677b143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bb14506ad940a4" /><Relationship Type="http://schemas.openxmlformats.org/officeDocument/2006/relationships/notesMaster" Target="/ppt/notesMasters/notesMaster1.xml" Id="Ra3b2e05a084148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6d1843092d46ad" /><Relationship Type="http://schemas.openxmlformats.org/officeDocument/2006/relationships/notesMaster" Target="/ppt/notesMasters/notesMaster1.xml" Id="R2f1a6144a11946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0469b455ea4c05" /><Relationship Type="http://schemas.openxmlformats.org/officeDocument/2006/relationships/notesMaster" Target="/ppt/notesMasters/notesMaster1.xml" Id="R2bb86fc6438a44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dcbbf5bfbf480c" /><Relationship Type="http://schemas.openxmlformats.org/officeDocument/2006/relationships/notesMaster" Target="/ppt/notesMasters/notesMaster1.xml" Id="Rf884e6716cd14e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21365176ce4c9b" /><Relationship Type="http://schemas.openxmlformats.org/officeDocument/2006/relationships/notesMaster" Target="/ppt/notesMasters/notesMaster1.xml" Id="Re6492363dd3c4c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98c7d3d85d434d" /><Relationship Type="http://schemas.openxmlformats.org/officeDocument/2006/relationships/notesMaster" Target="/ppt/notesMasters/notesMaster1.xml" Id="R4f29129e128847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cc1fa5b35f4d59" /><Relationship Type="http://schemas.openxmlformats.org/officeDocument/2006/relationships/notesMaster" Target="/ppt/notesMasters/notesMaster1.xml" Id="R50c550733b3748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9f556d12514641" /><Relationship Type="http://schemas.openxmlformats.org/officeDocument/2006/relationships/notesMaster" Target="/ppt/notesMasters/notesMaster1.xml" Id="R01dcff96d70549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ca00fee6994e69" /><Relationship Type="http://schemas.openxmlformats.org/officeDocument/2006/relationships/notesMaster" Target="/ppt/notesMasters/notesMaster1.xml" Id="Re6a89a8c20714a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2812998d264775" /><Relationship Type="http://schemas.openxmlformats.org/officeDocument/2006/relationships/notesMaster" Target="/ppt/notesMasters/notesMaster1.xml" Id="R2c4e29adfb7748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Pexels photo 38782292: Dilara Baran (https://www.pexels.com/photo/street-view-of-hanoi-s-historic-old-quarter-38782292/)</a:t>
            </a:r>
          </a:p>
          <a:p xmlns:a="http://schemas.openxmlformats.org/drawingml/2006/main">
            <a:r>
              <a:t>Pexels photo 34195917: Thuan Pham (https://www.pexels.com/photo/quaint-hanoi-street-scene-with-motorbikes-34195917/)</a:t>
            </a:r>
          </a:p>
          <a:p xmlns:a="http://schemas.openxmlformats.org/drawingml/2006/main">
            <a:r>
              <a:t>Pexels photo 34152682: Thuan Pham (https://www.pexels.com/photo/street-vendor-with-bicycle-selling-flowers-in-hanoi-34152682/)</a:t>
            </a:r>
          </a:p>
          <a:p xmlns:a="http://schemas.openxmlformats.org/drawingml/2006/main">
            <a:r>
              <a:t>Pexels photo 15857872: tu nguyen (https://www.pexels.com/photo/coffee-on-chair-near-wall-15857872/)</a:t>
            </a:r>
          </a:p>
          <a:p xmlns:a="http://schemas.openxmlformats.org/drawingml/2006/main">
            <a:r>
              <a:t>Pexels photo 1444635: Tizino Academy (https://www.pexels.com/photo/man-sitting-on-folding-chair-beside-woman-sitting-near-table-1444635/)</a:t>
            </a:r>
          </a:p>
          <a:p xmlns:a="http://schemas.openxmlformats.org/drawingml/2006/main">
            <a:r>
              <a:t>Pexels photo 36742743: Tripatpal Singh (https://www.pexels.com/photo/nighttime-alley-scene-in-hanoi-vietnam-36742743/)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Pexels photo 34195917: Thuan Pham (https://www.pexels.com/photo/quaint-hanoi-street-scene-with-motorbikes-34195917/)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Pexels photo 34195917: Thuan Pham (https://www.pexels.com/photo/quaint-hanoi-street-scene-with-motorbikes-34195917/)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Pexels photo 34152682: Thuan Pham (https://www.pexels.com/photo/street-vendor-with-bicycle-selling-flowers-in-hanoi-34152682/)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Pexels photo 15857872: tu nguyen (https://www.pexels.com/photo/coffee-on-chair-near-wall-15857872/)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Pexels photo 1444635: Tizino Academy (https://www.pexels.com/photo/man-sitting-on-folding-chair-beside-woman-sitting-near-table-1444635/)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Safety, transport and street interactions (checked 2026-09-06): https://www.gov.uk/foreign-travel-advice/vietnam/safety-and-security ; https://www.grab.com/vn/en/transport/bike/ ; https://asiatravellinksdmc.com/travel-guide/hanoi-scams-safety-tips</a:t>
            </a:r>
          </a:p>
          <a:p xmlns:a="http://schemas.openxmlformats.org/drawingml/2006/main">
            <a:r>
              <a:t>Train Street (checked 2026-09-06): https://vietnamnet.vn/en/hanoi-s-train-street-keep-it-for-tourism-or-shut-it-down-2381323.html</a:t>
            </a:r>
          </a:p>
          <a:p xmlns:a="http://schemas.openxmlformats.org/drawingml/2006/main">
            <a:r>
              <a:t>Exchange and rate references (checked 2026-09-06): https://sbv.hanoi.gov.vn/xem-tat-ca/-/view_content/6660026-nhung-dieu-can-biet-trong-giao-dich-mua-ban-ngoai-te-tien-mat-phong-ngua-ngoai-te-gia.html ; https://www.vietcombank.com.vn/en/Personal/Cong-cu-Tien-ich/Ty-gia</a:t>
            </a:r>
          </a:p>
          <a:p xmlns:a="http://schemas.openxmlformats.org/drawingml/2006/main">
            <a:r>
              <a:t>Indicative price references (checked 2026-09-06): https://www.vietnamairlines.com/us/en/plan-book/travel/travel-guide/pho-hanoi ; https://vietnamnet.vn/en/pho-for-vnd30-000-fades-away-as-street-food-prices-climb-in-hanoi-2437708.html ; https://daytripsvietnam.com/guides/vietnam-grab-prices-2026/</a:t>
            </a:r>
          </a:p>
          <a:p xmlns:a="http://schemas.openxmlformats.org/drawingml/2006/main">
            <a:r>
              <a:t>All rate and price claims on this slide are indicative planning information only; check the live app fare and current permitted exchange rate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Pexels photo 1444635: Tizino Academy (https://www.pexels.com/photo/man-sitting-on-folding-chair-beside-woman-sitting-near-table-1444635/)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Pexels photo 15857872: tu nguyen (https://www.pexels.com/photo/coffee-on-chair-near-wall-15857872/)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Pexels photo 38782292: Dilara Baran (https://www.pexels.com/photo/street-view-of-hanoi-s-historic-old-quarter-38782292/)</a:t>
            </a:r>
          </a:p>
          <a:p xmlns:a="http://schemas.openxmlformats.org/drawingml/2006/main">
            <a:r>
              <a:t>Pexels photo 34195917: Thuan Pham (https://www.pexels.com/photo/quaint-hanoi-street-scene-with-motorbikes-34195917/)</a:t>
            </a:r>
          </a:p>
          <a:p xmlns:a="http://schemas.openxmlformats.org/drawingml/2006/main">
            <a:r>
              <a:t>Pexels photo 34152682: Thuan Pham (https://www.pexels.com/photo/street-vendor-with-bicycle-selling-flowers-in-hanoi-34152682/)</a:t>
            </a:r>
          </a:p>
          <a:p xmlns:a="http://schemas.openxmlformats.org/drawingml/2006/main">
            <a:r>
              <a:t>Pexels photo 15857872: tu nguyen (https://www.pexels.com/photo/coffee-on-chair-near-wall-15857872/)</a:t>
            </a:r>
          </a:p>
          <a:p xmlns:a="http://schemas.openxmlformats.org/drawingml/2006/main">
            <a:r>
              <a:t>Pexels photo 1444635: Tizino Academy (https://www.pexels.com/photo/man-sitting-on-folding-chair-beside-woman-sitting-near-table-1444635/)</a:t>
            </a:r>
          </a:p>
          <a:p xmlns:a="http://schemas.openxmlformats.org/drawingml/2006/main">
            <a:r>
              <a:t>Pexels photo 36742743: Tripatpal Singh (https://www.pexels.com/photo/nighttime-alley-scene-in-hanoi-vietnam-36742743/)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03f0b4600744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f22c0b49a7440e" /><Relationship Type="http://schemas.openxmlformats.org/officeDocument/2006/relationships/slideLayout" Target="/ppt/slideLayouts/slideLayout1.xml" Id="Rf8b2cd73244f4b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b2cd73244f4b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38075e3d14534" /><Relationship Type="http://schemas.openxmlformats.org/officeDocument/2006/relationships/image" Target="/ppt/media/image.jpeg" Id="R79c521ba12614c36" /><Relationship Type="http://schemas.openxmlformats.org/officeDocument/2006/relationships/image" Target="/ppt/media/image2.jpeg" Id="Ra399cdab56e74b9a" /><Relationship Type="http://schemas.openxmlformats.org/officeDocument/2006/relationships/image" Target="/ppt/media/image3.jpeg" Id="Rd456b2b7c0004992" /><Relationship Type="http://schemas.openxmlformats.org/officeDocument/2006/relationships/image" Target="/ppt/media/image4.jpeg" Id="R98fa6cd6c9b34272" /><Relationship Type="http://schemas.openxmlformats.org/officeDocument/2006/relationships/image" Target="/ppt/media/image5.jpeg" Id="R124105840b174a33" /><Relationship Type="http://schemas.openxmlformats.org/officeDocument/2006/relationships/image" Target="/ppt/media/image6.jpeg" Id="Rdbd279fb63674a3b" /><Relationship Type="http://schemas.openxmlformats.org/officeDocument/2006/relationships/image" Target="/ppt/media/image7.jpeg" Id="R9526a66a5ae648d0" /><Relationship Type="http://schemas.openxmlformats.org/officeDocument/2006/relationships/notesSlide" Target="/ppt/notesSlides/notesSlide1.xml" Id="R33e3926eee9e44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28d6039224962" /><Relationship Type="http://schemas.openxmlformats.org/officeDocument/2006/relationships/image" Target="/ppt/media/image8.jpeg" Id="R5d3710602e1646ad" /><Relationship Type="http://schemas.openxmlformats.org/officeDocument/2006/relationships/notesSlide" Target="/ppt/notesSlides/notesSlide2.xml" Id="R43dc875ab81246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8bf4c3d164bec" /><Relationship Type="http://schemas.openxmlformats.org/officeDocument/2006/relationships/image" Target="/ppt/media/image9.jpeg" Id="Rdeed3773b0a44817" /><Relationship Type="http://schemas.openxmlformats.org/officeDocument/2006/relationships/notesSlide" Target="/ppt/notesSlides/notesSlide3.xml" Id="R4a8b45af666d44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d7b941d664eb0" /><Relationship Type="http://schemas.openxmlformats.org/officeDocument/2006/relationships/image" Target="/ppt/media/image10.jpeg" Id="R2457636b4ed9487b" /><Relationship Type="http://schemas.openxmlformats.org/officeDocument/2006/relationships/notesSlide" Target="/ppt/notesSlides/notesSlide4.xml" Id="R225eeef3d62440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78acf2813445c" /><Relationship Type="http://schemas.openxmlformats.org/officeDocument/2006/relationships/image" Target="/ppt/media/image11.jpeg" Id="Rcf5e612253ab4bf7" /><Relationship Type="http://schemas.openxmlformats.org/officeDocument/2006/relationships/notesSlide" Target="/ppt/notesSlides/notesSlide5.xml" Id="R2a523f36e80f4e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1f19cb858467c" /><Relationship Type="http://schemas.openxmlformats.org/officeDocument/2006/relationships/image" Target="/ppt/media/image12.jpeg" Id="R7f1564b43e114663" /><Relationship Type="http://schemas.openxmlformats.org/officeDocument/2006/relationships/notesSlide" Target="/ppt/notesSlides/notesSlide6.xml" Id="Rbb291233bd9e4d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121da7f7d40bd" /><Relationship Type="http://schemas.openxmlformats.org/officeDocument/2006/relationships/notesSlide" Target="/ppt/notesSlides/notesSlide7.xml" Id="R1b81601eff1744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41ff44b424a91" /><Relationship Type="http://schemas.openxmlformats.org/officeDocument/2006/relationships/image" Target="/ppt/media/image13.jpeg" Id="Racfbedd362524736" /><Relationship Type="http://schemas.openxmlformats.org/officeDocument/2006/relationships/notesSlide" Target="/ppt/notesSlides/notesSlide8.xml" Id="Rebb3ad177ae442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0b9cf64e048f4" /><Relationship Type="http://schemas.openxmlformats.org/officeDocument/2006/relationships/image" Target="/ppt/media/image14.jpeg" Id="Rb6c05ffc112649ee" /><Relationship Type="http://schemas.openxmlformats.org/officeDocument/2006/relationships/notesSlide" Target="/ppt/notesSlides/notesSlide9.xml" Id="Rbb9951fcbaf044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003656d7b4883" /><Relationship Type="http://schemas.openxmlformats.org/officeDocument/2006/relationships/image" Target="/ppt/media/image15.jpeg" Id="R78b79936431b4285" /><Relationship Type="http://schemas.openxmlformats.org/officeDocument/2006/relationships/notesSlide" Target="/ppt/notesSlides/notesSlide10.xml" Id="Rb0624c76f60f4ec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521ba12614c36"/>
          <a:srcRect xmlns:a="http://schemas.openxmlformats.org/drawingml/2006/main" l="2862" t="0" r="28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59985" cy="1069198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1B99C-4B0E-49E2-9AB1-5FC4460B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59985" cy="1069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1D">
              <a:alpha val="34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3030D-669E-48AA-8467-4D0DFCD4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85800"/>
            <a:ext cx="7026585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1D">
              <a:alpha val="72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1FE476-94EA-4386-8FBD-59403674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rPr>
              <a:t>TRAVELFRAME.VN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5C37A-F7AE-4434-88B3-7D868C68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62075"/>
            <a:ext cx="5476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Complete Hanoi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21599-213F-4DEA-B4DE-57ED15FB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53054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 b="0">
                <a:solidFill>
                  <a:srgbClr val="FFFFFF">
                    <a:alpha val="92000"/>
                  </a:srgbClr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>
                    <a:alpha val="92000"/>
                  </a:srgbClr>
                </a:solidFill>
                <a:latin typeface="Helvetica Neue"/>
                <a:ea typeface="Helvetica Neue"/>
                <a:cs typeface="Helvetica Neue"/>
              </a:rPr>
              <a:t>A thoughtful photo and film walk for solo travelers, couples, creators, and small groups who want Hanoi to feel personal.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89ED6-7126-402C-9A3D-765467BE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24275"/>
            <a:ext cx="523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0" i="1">
                <a:solidFill>
                  <a:srgbClr val="FFFFFF">
                    <a:alpha val="84000"/>
                  </a:srgbClr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1">
                <a:solidFill>
                  <a:srgbClr val="FFFFFF">
                    <a:alpha val="84000"/>
                  </a:srgbClr>
                </a:solidFill>
                <a:latin typeface="Helvetica Neue"/>
                <a:ea typeface="Helvetica Neue"/>
                <a:cs typeface="Helvetica Neue"/>
              </a:rPr>
              <a:t>You arrive beneath faded balconies as motorbikes thread through the Old Quarter. Nothing asks you to rush. A first walk, a camera at your side, and Hanoi begins to feel less like a map than a sequence of small invitations.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D5C36-9158-4C2E-9DF4-A85FC53C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DM @travelframe.vn to plan your Hanoi story.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9cdab56e74b9a"/>
          <a:srcRect xmlns:a="http://schemas.openxmlformats.org/drawingml/2006/main" l="0" t="22895" r="0" b="228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9815688"/>
            <a:ext cx="1212372" cy="87630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6b2b7c0004992"/>
          <a:srcRect xmlns:a="http://schemas.openxmlformats.org/drawingml/2006/main" l="0" t="25897" r="0" b="258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9522" y="9815688"/>
            <a:ext cx="1212372" cy="87630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a6cd6c9b34272"/>
          <a:srcRect xmlns:a="http://schemas.openxmlformats.org/drawingml/2006/main" l="0" t="25897" r="0" b="258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39045" y="9815688"/>
            <a:ext cx="1212372" cy="87630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105840b174a33"/>
          <a:srcRect xmlns:a="http://schemas.openxmlformats.org/drawingml/2006/main" l="0" t="25897" r="0" b="258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08567" y="9815688"/>
            <a:ext cx="1212372" cy="876300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279fb63674a3b"/>
          <a:srcRect xmlns:a="http://schemas.openxmlformats.org/drawingml/2006/main" l="0" t="25897" r="0" b="258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78090" y="9815688"/>
            <a:ext cx="1212372" cy="87630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6a66a5ae648d0"/>
          <a:srcRect xmlns:a="http://schemas.openxmlformats.org/drawingml/2006/main" l="0" t="29623" r="0" b="296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7612" y="9815688"/>
            <a:ext cx="1212372" cy="8763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B30188-77B9-4866-9399-426C4BBB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985" y="10330038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8035674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710602e1646ad"/>
          <a:srcRect xmlns:a="http://schemas.openxmlformats.org/drawingml/2006/main" l="0" t="2839" r="0" b="28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59985" cy="1069198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42F60-8243-45C6-A242-8DED607E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59985" cy="1069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1D">
              <a:alpha val="2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4978E-D9E4-41C8-B893-35E3A255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52450"/>
            <a:ext cx="691228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1D">
              <a:alpha val="77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22BB6-E0C6-47E9-B20A-8C078154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rPr>
              <a:t>MEET YOUR HANOI FRIEND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1CC7C-1635-4D90-9A22-97E7157F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5715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Walk Shaped Around You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04FF2-966E-4312-B6FB-830A1D30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54673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0">
                <a:solidFill>
                  <a:srgbClr val="FFFFFF">
                    <a:alpha val="94000"/>
                  </a:srgbClr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>
                    <a:alpha val="94000"/>
                  </a:srgbClr>
                </a:solidFill>
                <a:latin typeface="Helvetica Neue"/>
                <a:ea typeface="Helvetica Neue"/>
                <a:cs typeface="Helvetica Neue"/>
              </a:rPr>
              <a:t>TravelFrame pairs a relaxed local-host experience with natural photo and video support. Solo women are especially welcome, along with couples, creators, and small groups. You set the pace; we help make room for the details you care about.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4F48B-3BB1-428B-883F-F435F9EC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8AA3">
                <a:alpha val="10000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9AD31-4BF2-4DE8-B88C-F9190AF8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5429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7000"/>
              </a:lnSpc>
              <a:buNone/>
              <a:defRPr sz="1275" b="0" i="1">
                <a:solidFill>
                  <a:srgbClr val="FFFFFF">
                    <a:alpha val="86000"/>
                  </a:srgbClr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1">
                <a:solidFill>
                  <a:srgbClr val="FFFFFF">
                    <a:alpha val="86000"/>
                  </a:srgbClr>
                </a:solidFill>
                <a:latin typeface="Helvetica Neue"/>
                <a:ea typeface="Helvetica Neue"/>
                <a:cs typeface="Helvetica Neue"/>
              </a:rPr>
              <a:t>You notice narrow pavements, open doorways, and motorbikes pausing between turns. Curiosity is enough to begin: share what catches your eye, then let a local friend shape a walk around the details you want to keep.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85EBF-186F-4A9D-BE64-BAC8983C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985" y="10330038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/ 10</a:t>
            </a:r>
          </a:p>
        </p:txBody>
      </p:sp>
    </p:spTree>
    <p:extLst>
      <p:ext uri="{BB962C8B-B14F-4D97-AF65-F5344CB8AC3E}">
        <p14:creationId xmlns:p14="http://schemas.microsoft.com/office/powerpoint/2010/main" val="11579054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1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d3773b0a44817"/>
          <a:srcRect xmlns:a="http://schemas.openxmlformats.org/drawingml/2006/main" l="0" t="41849" r="0" b="418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59985" cy="1847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7A259-DC31-4E51-A180-F400613D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5998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1D">
              <a:alpha val="31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9E584-4B40-4225-9317-D9DE05CA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33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rPr>
              <a:t>PICK YOUR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9E0ED-67FB-43D3-9FD9-16068D04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2865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Choose Your Hanoi 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F1B06-E9D3-45D3-8701-E241263D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76450"/>
            <a:ext cx="638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7000"/>
              </a:lnSpc>
              <a:buNone/>
              <a:defRPr sz="1350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Each experience leaves room to walk, look around, and make the day your own. Delivery timing is confirmed in your written booking confirmation.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D8187-4DBB-4197-8217-7BDDF19A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196754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Quick Photo Walk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B1912-63F0-40D0-958B-FA0DA8C4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86175"/>
            <a:ext cx="19675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rPr>
              <a:t>Walking tour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1B5FC-7E79-408E-B33C-D92F6D21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96754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825" b="1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WHAT YOU RECEIVE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B0B8D-A66F-461E-AB38-DF71769B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57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A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D8A07-7515-4E91-8C1C-FE8BDFE7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176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10 edited photos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75F55D-D2D5-4767-93BE-77740613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38775"/>
            <a:ext cx="196754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825" b="1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GUEST-PAID SEPARATELY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14FCA-3A7D-4A37-A6CD-A6F99350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91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3A531F-9361-4A30-8FB1-C57067F2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7675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00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Food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87D9AB-4765-4989-9B34-B183649D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4CF46-55FF-4281-952A-3780562E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17675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00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Drinks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31889-4F02-47A9-8C22-1938495D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05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6AC12C-C02A-4B9F-B5B6-980868A9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9400"/>
            <a:ext cx="17675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00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Entrance tickets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EE3D48-D444-4F7A-AC68-F5D62236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05850"/>
            <a:ext cx="19294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8211D">
                <a:alpha val="22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5505FC-3EED-4EAB-BAAA-B087A5B8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896350"/>
            <a:ext cx="192944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Food, drinks, and entrance tickets are paid separately.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27FA90-35B6-4CDE-9155-CD04389E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295" y="30480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8211D">
                <a:alpha val="3000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70B15B-48CF-4171-8098-8E1B9EF1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795" y="3048000"/>
            <a:ext cx="196754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Signature Story Tour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2A7784-32D5-4582-851C-F321FBB5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795" y="3686175"/>
            <a:ext cx="19675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rPr>
              <a:t>Walking tour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49DBC3-601E-42F7-856A-96A99B7C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795" y="4286250"/>
            <a:ext cx="196754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825" b="1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WHAT YOU RECEIVE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ACB6A1-C180-4DE6-B7BB-FDD2CF14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795" y="4657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A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945E76-4D61-4F41-880D-3D7432B2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295" y="4581525"/>
            <a:ext cx="176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25 edited photos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59DB16-6B02-4E73-939D-39D496CA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795" y="5210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A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679B43-0830-470D-B99C-CBF991C0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295" y="5133975"/>
            <a:ext cx="176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One 30-45 second vertical Reel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6D82F7-FADB-476C-88AF-1663E3A4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795" y="5991225"/>
            <a:ext cx="196754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825" b="1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GUEST-PAID SEPARATELY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F46897-C802-4BE2-A7EE-4BD5B4E1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795" y="6343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34CDB2-6068-4413-836E-A0D97B56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295" y="6267450"/>
            <a:ext cx="17675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00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Food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D655B1-61C8-4F2F-81A5-722768E7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795" y="6800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4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354555-708F-4772-996A-AEB9F1B1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295" y="6724650"/>
            <a:ext cx="17675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00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Drinks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495E7E-B571-4895-B909-A4EE535A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795" y="7258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4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C07E24-712E-4924-9126-F5D70850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295" y="7181850"/>
            <a:ext cx="17675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00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Entrance tickets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97F696-35F1-49F5-8356-D9A74B82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795" y="8705850"/>
            <a:ext cx="19294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8211D">
                <a:alpha val="2200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5D0D0A-F569-4E19-8581-692A14B5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795" y="8896350"/>
            <a:ext cx="192944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Food, drinks, and entrance tickets are paid separately.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C94A97-9696-49AA-96CF-ABE7220C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5690" y="30480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8211D">
                <a:alpha val="30000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783286-CBAB-461F-B78E-E9304C5B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190" y="3048000"/>
            <a:ext cx="196754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Premium Full-Day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A2871B-7B78-4105-9AA8-4E6D2E68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190" y="3686175"/>
            <a:ext cx="19675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rPr>
              <a:t>Private full-day experience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091DFD-41A8-462E-8B12-8A3EC9AB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190" y="4286250"/>
            <a:ext cx="196754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825" b="1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WHAT YOU RECEIVE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46C4D6-BE33-4591-B7B2-0276AF19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190" y="4657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A3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14B312-C13B-4F2E-BDF8-56CB8A00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690" y="4581525"/>
            <a:ext cx="176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35 edited photos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2BA923-6819-478A-B784-367D0B3F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190" y="5210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A3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0B70D5-153F-4741-9BC9-2711A817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690" y="5133975"/>
            <a:ext cx="176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One 60-90 second short film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CDBCE8-4F73-4E43-8028-1BE6F429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190" y="5762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A3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C40D13-5EEC-4D94-B94C-35D715A3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690" y="5686425"/>
            <a:ext cx="176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Five selected raw clips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49E2D9-ACAD-4578-9996-D5DFD763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190" y="6543675"/>
            <a:ext cx="196754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825" b="1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INCLUDED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54A35E-3C85-4EB5-A36F-BB2C3982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190" y="6896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4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3B5FAE-1991-4F72-90E6-1BE577B2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690" y="6819900"/>
            <a:ext cx="17675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00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Private car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94EAE4-451E-4833-9CFB-7AE29865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190" y="7353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4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5FB601-F606-47B5-AF5A-457CC38E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690" y="7277100"/>
            <a:ext cx="17675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00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Water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2EEEF81-FDF3-41B8-B7F1-8F17AD87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190" y="7810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4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6695664-CD96-4101-9B78-95F94073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690" y="7734300"/>
            <a:ext cx="17675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00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One meal per confirmed itinerary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9CC6B9-1985-4B37-AD87-268542C7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190" y="8705850"/>
            <a:ext cx="19294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8211D">
                <a:alpha val="22000"/>
              </a:srgbClr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9E895C-3432-467E-85D4-D2FAF017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190" y="8896350"/>
            <a:ext cx="192944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The confirmed itinerary sets the included meal and route.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D46515-7CDC-492C-894D-0B224710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9441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rPr>
              <a:t>DM @travelframe.vn to plan your Hanoi story.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B63B491-F002-4180-9D90-A0C087D1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985" y="10330038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03 / 10</a:t>
            </a:r>
          </a:p>
        </p:txBody>
      </p:sp>
    </p:spTree>
    <p:extLst>
      <p:ext uri="{BB962C8B-B14F-4D97-AF65-F5344CB8AC3E}">
        <p14:creationId xmlns:p14="http://schemas.microsoft.com/office/powerpoint/2010/main" val="4815088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7636b4ed9487b"/>
          <a:srcRect xmlns:a="http://schemas.openxmlformats.org/drawingml/2006/main" l="0" t="2839" r="0" b="28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59985" cy="1069198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D04F5-4A2F-4CC3-844B-65C8A403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59985" cy="1069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1D">
              <a:alpha val="25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0AD43-C656-4DE1-8FFF-110BDAB0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8150"/>
            <a:ext cx="695038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1D">
              <a:alpha val="75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57DF9-14F5-4E24-803C-EE5CBDE7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rPr>
              <a:t>CHOOSE YOUR HANOI MOOD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377CC-2DE1-4E87-B217-5A6D78BB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5476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Two Moods, One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C7E7C-6DBA-4ADA-B17E-4935565A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54959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7000"/>
              </a:lnSpc>
              <a:buNone/>
              <a:defRPr sz="1350" b="0">
                <a:solidFill>
                  <a:srgbClr val="FFFFFF">
                    <a:alpha val="92000"/>
                  </a:srgbClr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>
                    <a:alpha val="92000"/>
                  </a:srgbClr>
                </a:solidFill>
                <a:latin typeface="Helvetica Neue"/>
                <a:ea typeface="Helvetica Neue"/>
                <a:cs typeface="Helvetica Neue"/>
              </a:rPr>
              <a:t>Choose up to two moods and share your priorities. TravelFrame proposes a route around them, then you can swap one or two stops before confirmation. Routes respond to the street and the day, so we do not promise a particular vendor, street activity, Train Street access, or light.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5A7DB-0A1E-4736-8B6E-A35A6141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38525"/>
            <a:ext cx="6950385" cy="193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1D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6C538-027C-416F-91BA-C1300D96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Heritage Hanoi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552DB-B6F6-47FA-B857-79B3485A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9575"/>
            <a:ext cx="531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7000"/>
              </a:lnSpc>
              <a:buNone/>
              <a:defRPr sz="1425" b="0">
                <a:solidFill>
                  <a:srgbClr val="FFFFFF">
                    <a:alpha val="92000"/>
                  </a:srgbClr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>
                    <a:alpha val="92000"/>
                  </a:srgbClr>
                </a:solidFill>
                <a:latin typeface="Helvetica Neue"/>
                <a:ea typeface="Helvetica Neue"/>
                <a:cs typeface="Helvetica Neue"/>
              </a:rPr>
              <a:t>Old balconies, layered streets, temple edges, and quiet architectural texture.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BF6EC-F3BB-4BBF-89B5-8E2782B6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531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1">
                <a:solidFill>
                  <a:srgbClr val="FFFFFF">
                    <a:alpha val="80000"/>
                  </a:srgbClr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1">
                <a:solidFill>
                  <a:srgbClr val="FFFFFF">
                    <a:alpha val="80000"/>
                  </a:srgbClr>
                </a:solidFill>
                <a:latin typeface="Helvetica Neue"/>
                <a:ea typeface="Helvetica Neue"/>
                <a:cs typeface="Helvetica Neue"/>
              </a:rPr>
              <a:t>A basket of flowers leans against a bicycle while the street keeps moving. Your route can connect two moods, not one fixed version of Hanoi, so the places that catch your attention have room to belong together.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FFCC6-A82D-4E4A-B5C5-CBAFED5E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172200"/>
            <a:ext cx="695038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1D">
              <a:alpha val="75000"/>
            </a:srgbClr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CB167-B92E-48B6-A11A-3A0FC36D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Everyday Hanoi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34368-E3ED-475C-A882-37BD90B8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96075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275" b="0">
                <a:solidFill>
                  <a:srgbClr val="FFFFFF">
                    <a:alpha val="90000"/>
                  </a:srgbClr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>
                    <a:alpha val="90000"/>
                  </a:srgbClr>
                </a:solidFill>
                <a:latin typeface="Helvetica Neue"/>
                <a:ea typeface="Helvetica Neue"/>
                <a:cs typeface="Helvetica Neue"/>
              </a:rPr>
              <a:t>Local cafes, markets, everyday movement, and the small details between destinations.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788EA-5C87-487A-881C-23B02F88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381875"/>
            <a:ext cx="695038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1D">
              <a:alpha val="75000"/>
            </a:srgbClr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0DFFD-B9D2-45FA-B0AA-9DDE0353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57237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Hanoi in Style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17A1D-8E5C-406C-9F07-84A9B9DA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90575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275" b="0">
                <a:solidFill>
                  <a:srgbClr val="FFFFFF">
                    <a:alpha val="90000"/>
                  </a:srgbClr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>
                    <a:alpha val="90000"/>
                  </a:srgbClr>
                </a:solidFill>
                <a:latin typeface="Helvetica Neue"/>
                <a:ea typeface="Helvetica Neue"/>
                <a:cs typeface="Helvetica Neue"/>
              </a:rPr>
              <a:t>French Quarter lines, polished portraits, and architecture with a calmer frame.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2934E-FAA7-4A09-A39F-91EB12C5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91550"/>
            <a:ext cx="695038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1D">
              <a:alpha val="75000"/>
            </a:srgbClr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0E653E-3D44-4023-9686-0B969CBE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820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Hanoi After Dark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7B5D5-D67D-4E22-AF1D-0627BA12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15425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275" b="0">
                <a:solidFill>
                  <a:srgbClr val="FFFFFF">
                    <a:alpha val="90000"/>
                  </a:srgbClr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>
                    <a:alpha val="90000"/>
                  </a:srgbClr>
                </a:solidFill>
                <a:latin typeface="Helvetica Neue"/>
                <a:ea typeface="Helvetica Neue"/>
                <a:cs typeface="Helvetica Neue"/>
              </a:rPr>
              <a:t>Night streets, neon, evening energy, and space for a more cinematic Reel.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5E454F-7748-4583-9A57-EC58F389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985" y="10330038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 / 10</a:t>
            </a:r>
          </a:p>
        </p:txBody>
      </p:sp>
    </p:spTree>
    <p:extLst>
      <p:ext uri="{BB962C8B-B14F-4D97-AF65-F5344CB8AC3E}">
        <p14:creationId xmlns:p14="http://schemas.microsoft.com/office/powerpoint/2010/main" val="1956233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e612253ab4bf7"/>
          <a:srcRect xmlns:a="http://schemas.openxmlformats.org/drawingml/2006/main" l="0" t="2839" r="0" b="28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59985" cy="1069198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54ECA-AA78-4039-AB47-5F320554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59985" cy="1069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1D">
              <a:alpha val="25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CB418-ADAA-4582-B500-F62AAE88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47675"/>
            <a:ext cx="6950385" cy="872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1D">
              <a:alpha val="76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7F14B-5AB3-48EE-BA36-1A29456D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524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rPr>
              <a:t>BEFORE YOUR TOUR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24D8C-3553-405B-B316-EEE7636E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5353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Bring What Helps You Feel Free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01C16-6988-440F-8B1F-D181B12D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5353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0">
                <a:solidFill>
                  <a:srgbClr val="FFFFFF">
                    <a:alpha val="92000"/>
                  </a:srgbClr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>
                    <a:alpha val="92000"/>
                  </a:srgbClr>
                </a:solidFill>
                <a:latin typeface="Helvetica Neue"/>
                <a:ea typeface="Helvetica Neue"/>
                <a:cs typeface="Helvetica Neue"/>
              </a:rPr>
              <a:t>Keep preparation simple. Comfort and a little battery power go a long way when you are walking and noticing more.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6F30B-A51A-455A-A2B7-B8A01674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8AA3">
                <a:alpha val="10000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DAAF4-3380-46F6-9F13-962C2658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A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FCCF2-FD0B-41E6-A1FF-95020CA8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5162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Wear an outfit that feels like you and works for the weather.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B0F8E-6933-4E07-BCB9-A936B967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A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9247F-0E1B-4DFA-B889-73E792A1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5162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Choose comfortable shoes for walking.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638C2-2ECC-41FE-A831-45854B0B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86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A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3742C9-BAC2-488D-A874-C7C4D399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5162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Bring a small bag for essentials.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F62388-4328-4E5F-BA84-EBE38531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A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870F1-197B-4C6C-80FA-B84FE56B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86425"/>
            <a:ext cx="5162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Arrive with a charged phone and a power bank.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610FD-9C6C-4E8D-9895-403BD855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A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F7CAE-81A6-4FE5-A654-D90DC4A5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5162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Check the weather before you leave.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1541EC-22AE-4054-895F-187B276A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15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A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F38B7-EF45-4FA8-AA3C-F9A36DD2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38975"/>
            <a:ext cx="5162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Confirm the meeting point before the tour.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E3F408-1F91-452C-AB7A-98115F36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91450"/>
            <a:ext cx="5353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0" i="1">
                <a:solidFill>
                  <a:srgbClr val="FFFFFF">
                    <a:alpha val="84000"/>
                  </a:srgbClr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1">
                <a:solidFill>
                  <a:srgbClr val="FFFFFF">
                    <a:alpha val="84000"/>
                  </a:srgbClr>
                </a:solidFill>
                <a:latin typeface="Helvetica Neue"/>
                <a:ea typeface="Helvetica Neue"/>
                <a:cs typeface="Helvetica Neue"/>
              </a:rPr>
              <a:t>A cup of coffee waits beside a quiet chair, giving the day a softer rhythm. Before you head out, a few small preparations leave more space for looking around, noticing the street, and taking the day as it comes.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1E647E-463E-4A1E-BA7C-A6354005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985" y="10330038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 / 10</a:t>
            </a:r>
          </a:p>
        </p:txBody>
      </p:sp>
    </p:spTree>
    <p:extLst>
      <p:ext uri="{BB962C8B-B14F-4D97-AF65-F5344CB8AC3E}">
        <p14:creationId xmlns:p14="http://schemas.microsoft.com/office/powerpoint/2010/main" val="9171820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564b43e114663"/>
          <a:srcRect xmlns:a="http://schemas.openxmlformats.org/drawingml/2006/main" l="0" t="2839" r="0" b="28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59985" cy="1069198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A8908-DCF2-4C56-83BC-9BCB29F5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59985" cy="1069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1D">
              <a:alpha val="2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FE95C-97D2-4DBC-AF62-F0617C71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0050"/>
            <a:ext cx="6950385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1D">
              <a:alpha val="78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440C7-EAED-4E79-B065-AF60A08F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rPr>
              <a:t>ON THE 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A4681-D811-4389-8EB7-EB7A1E21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Easy Guidance, Real Breathing Room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FB49E-B854-47D3-9011-61EF61B4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7000"/>
              </a:lnSpc>
              <a:buNone/>
              <a:defRPr sz="1350" b="0">
                <a:solidFill>
                  <a:srgbClr val="FFFFFF">
                    <a:alpha val="92000"/>
                  </a:srgbClr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>
                    <a:alpha val="92000"/>
                  </a:srgbClr>
                </a:solidFill>
                <a:latin typeface="Helvetica Neue"/>
                <a:ea typeface="Helvetica Neue"/>
                <a:cs typeface="Helvetica Neue"/>
              </a:rPr>
              <a:t>You will meet your local friend, confirm the mood for the day, and ease into the route. Expect gentle posing guidance, a look at sample photos, and time to ask for a different angle or a slower pace.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4B69B-F110-4A43-83C7-95DAFD74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70522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125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C1D12-7263-4D61-8D49-1D34F84B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86175"/>
            <a:ext cx="4676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Meet your local friend.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B2999-7614-4B63-9AB5-0F265D97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468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FFFFFF">
                <a:alpha val="2600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BB523-5708-4C4D-9051-BB66B9EA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481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125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01576-5A2C-4B4F-B0CE-E792331D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29125"/>
            <a:ext cx="4676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Confirm your chosen mood and priorities.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8A075-6ED5-4E96-912A-C8B52B46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76800"/>
            <a:ext cx="468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FFFFFF">
                <a:alpha val="2600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6CBFF6-3D64-42DB-85AE-6E7213CE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19112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125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71AB7-34EA-4488-AB87-3CD08B8C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72075"/>
            <a:ext cx="4676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Receive gentle posing guidance.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4063B-9803-436B-AE8B-94FE1730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19750"/>
            <a:ext cx="468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FFFFFF">
                <a:alpha val="2600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243B2E-C4BA-45FA-87F3-193B51BC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9340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125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DA24B6-FE9A-4F9D-8D2D-9D9293D4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15025"/>
            <a:ext cx="4676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Review sample photos together.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403C6-0736-4D91-95A7-29F5B9B1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362700"/>
            <a:ext cx="468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FFFFFF">
                <a:alpha val="2600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E443B8-4455-4481-BB7F-92334417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67702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125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817CBF-0587-46D2-877C-369C0A75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657975"/>
            <a:ext cx="4676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Take a food or coffee pause if you would like one.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7F42C5-6E9E-4872-BA6E-FAE9CD52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05650"/>
            <a:ext cx="468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FFFFFF">
                <a:alpha val="2600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C52080-CCED-4A85-BC04-F8F58D2B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581900"/>
            <a:ext cx="535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275" b="0" i="1">
                <a:solidFill>
                  <a:srgbClr val="FFFFFF">
                    <a:alpha val="84000"/>
                  </a:srgbClr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1">
                <a:solidFill>
                  <a:srgbClr val="FFFFFF">
                    <a:alpha val="84000"/>
                  </a:srgbClr>
                </a:solidFill>
                <a:latin typeface="Helvetica Neue"/>
                <a:ea typeface="Helvetica Neue"/>
                <a:cs typeface="Helvetica Neue"/>
              </a:rPr>
              <a:t>A pause is optional. Food and coffee purchases are paid separately unless they are confirmed in your package itinerary.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9D79B7-CEE9-4F5E-8FF7-08886151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20150"/>
            <a:ext cx="5353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275" b="0" i="1">
                <a:solidFill>
                  <a:srgbClr val="FFFFFF">
                    <a:alpha val="80000"/>
                  </a:srgbClr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1">
                <a:solidFill>
                  <a:srgbClr val="FFFFFF">
                    <a:alpha val="80000"/>
                  </a:srgbClr>
                </a:solidFill>
                <a:latin typeface="Helvetica Neue"/>
                <a:ea typeface="Helvetica Neue"/>
                <a:cs typeface="Helvetica Neue"/>
              </a:rPr>
              <a:t>A cafe table and folding chairs face the street; a small pause becomes part of the picture. With gentle direction and time to settle in, you can be present in Hanoi rather than only passing through it.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FCCBDB-C24B-4EBA-B00C-94C4B5C5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985" y="10330038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 / 10</a:t>
            </a:r>
          </a:p>
        </p:txBody>
      </p:sp>
    </p:spTree>
    <p:extLst>
      <p:ext uri="{BB962C8B-B14F-4D97-AF65-F5344CB8AC3E}">
        <p14:creationId xmlns:p14="http://schemas.microsoft.com/office/powerpoint/2010/main" val="4814367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DF1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4CD009-F4EE-461B-A31C-CC4623A7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5998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CD175-5295-4C92-893D-AD340539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810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rPr>
              <a:t>CALM PRACTICAL NOTES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5AB7F-DBF6-4FB3-877F-A4F08E90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95325"/>
            <a:ext cx="598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07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Stay Safe &amp; Know the Price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F9E30-7667-477A-B575-3D32F600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906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A few calm habits can make everyday transactions and moving around feel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7811C-830B-4383-A21D-1458649A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3812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Paying cash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B5725-5A77-457A-A0E2-B48B0822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765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Say the denomination, keep the note visible, and count your change.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1FDE7-B6D2-4956-9BBD-04FAB202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0992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8211D">
                <a:alpha val="2200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25CEF-58AC-493F-8A73-6FF8B048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766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Unsolicited shoe repair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64420-401B-49E5-AEB3-3D658627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5718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If you did not ask for it, say “No, thank you” and keep moving.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FB2BA-9AA4-46E3-AC27-6565EA40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3862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8211D">
                <a:alpha val="2200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96D5C-72B8-4ABC-8342-491F91E7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053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Fruit or photo props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3070A-6D83-4526-BBC7-AE1A8714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6005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Agree the full price before accepting fruit or photo props.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56A530-3F69-4C89-98C4-61A80CA0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1720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8211D">
                <a:alpha val="2200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FE569-8AA6-483E-B9F1-2E6F8E7E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387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Getting a ride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352FF-47AF-4613-B7D2-735B1327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534025"/>
            <a:ext cx="3143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Book through Grab or via a verified Mai Linh channel such as the official app or 1055. Match the vehicle and driver before you get 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2ED86-47C0-4165-8F99-F68E5683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294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8211D">
                <a:alpha val="2200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B0BC75-8689-42F6-A608-06882BCC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312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Train Street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B5919-71AF-4467-82AB-7EB48AE6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76525"/>
            <a:ext cx="312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Follow barriers, posted restrictions, and railway or security instructions.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B6DC2C-D2D4-4640-A09A-0A503FEB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86125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8211D">
                <a:alpha val="2200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DA066C-D240-4CBD-A465-CD3CCB67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52800"/>
            <a:ext cx="312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Changing money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11B111-FF0D-428D-9743-534700B5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48075"/>
            <a:ext cx="31242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Prepare small VND notes. At a reputable shop where you are already buying something, politely ask if they can break a 500,000 VND note; they may decline. Exchange foreign cash only at a licensed bank or an authorized exchange counter.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5DF281-9D73-472D-8F5D-514019AD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00675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8211D">
                <a:alpha val="2200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F155CF-277C-4BAA-9EF8-541DE28C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67350"/>
            <a:ext cx="312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Fresh coconut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8A32F3-0594-4579-9865-F076C2B7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62625"/>
            <a:ext cx="3124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Ask the price before opening; accept only after you agree.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8FEE60-CCDF-4A89-AF93-F1D71012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62940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8211D">
                <a:alpha val="2200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7D7547-E769-431C-BC45-1A276A3C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762750"/>
            <a:ext cx="687418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1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44A1FB-1B41-4A5A-B226-271578B5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104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Indicative prices - checked 6 Sep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B32ED8-8839-4DB5-A0FA-0F318A34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485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FFFFFF">
                    <a:alpha val="94000"/>
                  </a:srgbClr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>
                    <a:alpha val="94000"/>
                  </a:srgbClr>
                </a:solidFill>
                <a:latin typeface="Helvetica Neue"/>
                <a:ea typeface="Helvetica Neue"/>
                <a:cs typeface="Helvetica Neue"/>
              </a:rPr>
              <a:t>Street phở: 40,000-65,000 VND (about USD 1.54-2.50)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C6CA34-9940-4CED-B2A1-7115C6E7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58125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 b="0">
                <a:solidFill>
                  <a:srgbClr val="FFFFFF">
                    <a:alpha val="94000"/>
                  </a:srgbClr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>
                    <a:alpha val="94000"/>
                  </a:srgbClr>
                </a:solidFill>
                <a:latin typeface="Helvetica Neue"/>
                <a:ea typeface="Helvetica Neue"/>
                <a:cs typeface="Helvetica Neue"/>
              </a:rPr>
              <a:t>Short central-Hanoi GrabBike: 20,000-30,000 VND (about USD 0.77-1.15)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91B034-3B2A-4424-A6D2-0F01DCD7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43900"/>
            <a:ext cx="6172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75" b="0">
                <a:solidFill>
                  <a:srgbClr val="FFFFFF">
                    <a:alpha val="82000"/>
                  </a:srgbClr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>
                    <a:alpha val="82000"/>
                  </a:srgbClr>
                </a:solidFill>
                <a:latin typeface="Helvetica Neue"/>
                <a:ea typeface="Helvetica Neue"/>
                <a:cs typeface="Helvetica Neue"/>
              </a:rPr>
              <a:t>Check the app before booking. Prices vary by location, distance, time, weather and demand.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9638B7-D013-4397-83BF-5277F821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86825"/>
            <a:ext cx="617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FFFFFF">
                    <a:alpha val="74000"/>
                  </a:srgbClr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>
                    <a:alpha val="74000"/>
                  </a:srgbClr>
                </a:solidFill>
                <a:latin typeface="Helvetica Neue"/>
                <a:ea typeface="Helvetica Neue"/>
                <a:cs typeface="Helvetica Neue"/>
              </a:rPr>
              <a:t>USD estimates use a rounded planning rate of 1 USD ≈ 26,000 VND, based on Vietcombank's 5 Sep 2026 reference table.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A8788C-B28F-41F0-9D9E-5FAF86A4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985" y="10330038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07 / 10</a:t>
            </a:r>
          </a:p>
        </p:txBody>
      </p:sp>
    </p:spTree>
    <p:extLst>
      <p:ext uri="{BB962C8B-B14F-4D97-AF65-F5344CB8AC3E}">
        <p14:creationId xmlns:p14="http://schemas.microsoft.com/office/powerpoint/2010/main" val="12435736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DCE9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bedd362524736"/>
          <a:srcRect xmlns:a="http://schemas.openxmlformats.org/drawingml/2006/main" l="0" t="40547" r="0" b="405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59985" cy="21431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F63BF-74D6-4F94-A3AC-4E98AF2C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5998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1D">
              <a:alpha val="2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03F5F-57A2-4224-AB14-BDBD6069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rPr>
              <a:t>YOUR PHOTOS &amp; FILM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6060E-8D9A-4B41-8431-161749DC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28650"/>
            <a:ext cx="5429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Simple Delivery Process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93B0D-9F31-42A8-9955-6B9F80AF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193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350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Your agreed photos and film follow the package you book. Delivery timing is confirmed only in your written booking confirmation.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9CDD5-55EA-4642-A0FA-D3431491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1F710-8BF6-4FC2-B123-559EDF59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0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YOUR BOOKING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C3E3A-92D3-4845-A16F-3DA8E6DC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95725"/>
            <a:ext cx="4762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9000"/>
              </a:lnSpc>
              <a:buNone/>
              <a:defRPr sz="1425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Your written booking confirmation records the selected deliverables.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F4194-5D1D-4263-B05B-3C636CE5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625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8211D">
                <a:alpha val="2400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D61DC-0EF8-488E-A16B-6136ECC7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A6002-24C4-4D0D-841A-632C4372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340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0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GALLERY LINK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334A5C-3865-4FA5-9F0F-BA9F36EE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05475"/>
            <a:ext cx="4762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9000"/>
              </a:lnSpc>
              <a:buNone/>
              <a:defRPr sz="1425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Your gallery link is shared through the contact used for your booking. Tell us before the tour how you feel about social sharing; the agreed use is recorded in writing.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68044-5748-498E-B753-5D64A9A2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7722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8211D">
                <a:alpha val="2400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EFF392-2802-41FD-BE1E-3A969332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24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75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CA217-B2E0-4EDC-83BB-AA25D009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143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0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ONE SMALL REVISION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8D86C-8009-4B84-A083-45EA23C8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515225"/>
            <a:ext cx="4762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9000"/>
              </a:lnSpc>
              <a:buNone/>
              <a:defRPr sz="1425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After delivery, you may send one small revision request with clear notes. We will review what can be adjusted within the agreed deliverables.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F69384-7166-4187-9E4D-43BC6E23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985" y="10330038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08 / 10</a:t>
            </a:r>
          </a:p>
        </p:txBody>
      </p:sp>
    </p:spTree>
    <p:extLst>
      <p:ext uri="{BB962C8B-B14F-4D97-AF65-F5344CB8AC3E}">
        <p14:creationId xmlns:p14="http://schemas.microsoft.com/office/powerpoint/2010/main" val="19439701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DF1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05ffc112649ee"/>
          <a:srcRect xmlns:a="http://schemas.openxmlformats.org/drawingml/2006/main" l="0" t="43446" r="0" b="434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59985" cy="1485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D4D62-D995-4A11-B371-9073C5C3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5998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1D">
              <a:alpha val="35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FD7C7-AFA6-49E9-83C5-796324FF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rPr>
              <a:t>QUICK FAQ + USEFUL VIETNAMESE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BB169-DDD7-4FEE-8A7E-84E2E771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524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Few Things You May Want to Know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1B3DD-DCF2-42C1-9555-583CF223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7335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350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Keep these phrases close for a small confidence boost while you explore.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8E497-89E4-42B3-8623-8126AD44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288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rPr>
              <a:t>FAQ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E8322-F632-46D1-A49C-D28E2EE4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28875"/>
            <a:ext cx="309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rPr>
              <a:t>USEFUL VIETNAMESE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C79B6-0F1A-46B5-8D0B-8B37B3AE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28875"/>
            <a:ext cx="0" cy="766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211D">
                <a:alpha val="2200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3CD72-7F26-4C33-AA20-A53FC88F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781300"/>
            <a:ext cx="304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Can I join solo?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6E013-7B98-402D-A646-0A64C80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670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Yes. The experience is designed to feel comfortable whether you come alone or with others.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3D72A-1C8A-4398-8052-60F0D144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9814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8211D">
                <a:alpha val="1800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4F882-3496-47F7-8421-AA86DF30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19550"/>
            <a:ext cx="304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Are couples, creators, and small groups welcome?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94BBB-A6A7-4C90-AB23-D5B73531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50532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Yes. Share what you want from the day so the route and pacing can suit your group.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CFEFE-287F-487A-903D-03CA6102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197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8211D">
                <a:alpha val="1800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93B8C-58BB-45A5-977B-61525B8B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57800"/>
            <a:ext cx="304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Can I choose more than one mood?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BD43B-9CDB-4ED6-970D-213A4147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435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Choose up to two moods, then review the proposed route before confirmation.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A51197-A001-4375-982B-19814AEC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4579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8211D">
                <a:alpha val="1800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382DE1-5B69-4258-A077-BEE12D78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496050"/>
            <a:ext cx="304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What should I bring?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28FE6D-62A6-4DEB-A511-557BA930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98182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Comfortable shoes, a small bag, a charged phone, and a power bank are a good start.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2F59D7-B3B0-40B5-89EF-D3C804B7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6962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8211D">
                <a:alpha val="1800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B39E2E-EC4D-4DAC-8D39-12FE3DFA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734300"/>
            <a:ext cx="304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Can we pause for food or coffee?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795DAC-651D-403E-83C3-ED47D2D6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200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Yes, a pause is optional. Purchases are paid separately unless confirmed in your package itinerary.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446D67-7686-4A57-957C-B79825CA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9344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8211D">
                <a:alpha val="1800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F9F48C-7939-4F61-88F1-5542262A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972550"/>
            <a:ext cx="304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How is delivery timing confirmed?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169973-6899-4544-89CF-181CE84C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45832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It is confirmed in your written booking confirmation.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4F920C-37F0-4583-9C14-9AA87C5E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81300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Xin chào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E0AA7D-BFC7-4D2D-8E90-702F72AE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76575"/>
            <a:ext cx="309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sin chow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1E7864-168F-4EF8-B125-77A53B5B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32422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Hello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342A0C-CD5E-45EB-9E82-04463944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981450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8211D">
                <a:alpha val="1800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EA3C2D-43A7-4305-8F4E-EB2A8EA9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019550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Cảm ơn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DB626B-A71F-487E-B6F1-04E7B734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314825"/>
            <a:ext cx="309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gahm uhn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B02336-2D21-44F9-A3AC-303B5983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6247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Thank you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84FB4D-BCE1-4985-8DCA-ED576161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219700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8211D">
                <a:alpha val="18000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B3A2EE-54B6-41C4-8152-89BF50E6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257800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Không, cảm ơn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4514B3-956D-4566-9AF8-DBED982C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553075"/>
            <a:ext cx="309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khong, gahm uhn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60A167-3091-4D9D-ABD8-9AD8927B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80072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No, thank you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5481DB-8D40-4A7F-B919-B7F26E5D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457950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8211D">
                <a:alpha val="18000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092F03-A8CC-4C1D-8AB1-B640E51F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496050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Bao nhiêu tiền?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3A30EC-EFD4-4E23-A9A1-2BB2021C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791325"/>
            <a:ext cx="309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bao nyew tyen?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C70D6D-EF27-4793-A630-87A55CAA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703897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How much?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D7484E-E4FF-48BF-B703-7ED75EF1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7696200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8211D">
                <a:alpha val="18000"/>
              </a:srgbClr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12D3BC-D7F7-461D-890A-9EB7D441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7734300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Tôi đã đặt Grab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214D6D-D341-452D-AD55-AAAE2080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8029575"/>
            <a:ext cx="309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toy dah dat Grab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BE9807-6CBF-4ACC-8217-79D218D5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827722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I have booked a Grab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6A91CB-35F1-40CD-A9A3-DC512BB8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8934450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8211D">
                <a:alpha val="18000"/>
              </a:srgbClr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84AD91-1128-4872-BFA6-7F9946BE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8972550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Giúp tôi với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93E2A2-A567-48E9-B6F7-D265755A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9267825"/>
            <a:ext cx="309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zoop toy voy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155F70-DB0A-4477-85D4-F148365A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951547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615A"/>
                </a:solidFill>
                <a:latin typeface="Helvetica Neue"/>
                <a:ea typeface="Helvetica Neue"/>
                <a:cs typeface="Helvetica Neue"/>
              </a:rPr>
              <a:t>Please help me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03830A-0FDB-4D6E-9AAD-90BAB6D4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985" y="10330038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211D"/>
                </a:solidFill>
                <a:latin typeface="Helvetica Neue"/>
                <a:ea typeface="Helvetica Neue"/>
                <a:cs typeface="Helvetica Neue"/>
              </a:rPr>
              <a:t>09 / 10</a:t>
            </a:r>
          </a:p>
        </p:txBody>
      </p:sp>
    </p:spTree>
    <p:extLst>
      <p:ext uri="{BB962C8B-B14F-4D97-AF65-F5344CB8AC3E}">
        <p14:creationId xmlns:p14="http://schemas.microsoft.com/office/powerpoint/2010/main" val="180368605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79936431b4285"/>
          <a:srcRect xmlns:a="http://schemas.openxmlformats.org/drawingml/2006/main" l="0" t="10128" r="0" b="101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59985" cy="1069198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867FD-EA87-4C41-9E59-20CB37F9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59985" cy="1069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1D">
              <a:alpha val="34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64FEF-455B-4A87-AE91-F01F7FE1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19100"/>
            <a:ext cx="6950385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1D">
              <a:alpha val="79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9F2D2-8B31-447E-8CA1-40DEB4D1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rPr>
              <a:t>READY WHEN YOU 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576A8-C998-42B0-B5F8-4591371D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557212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Ready for Your Hanoi Story?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FF460-AF8F-4853-897A-1F6BCA0D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541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0">
                <a:solidFill>
                  <a:srgbClr val="FFFFFF">
                    <a:alpha val="92000"/>
                  </a:srgbClr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>
                    <a:alpha val="92000"/>
                  </a:srgbClr>
                </a:solidFill>
                <a:latin typeface="Helvetica Neue"/>
                <a:ea typeface="Helvetica Neue"/>
                <a:cs typeface="Helvetica Neue"/>
              </a:rPr>
              <a:t>Send the details below and we can begin with a route that feels considered, practical, and yours.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338DC-C342-4518-84A2-21F62FC5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533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8AA3"/>
                </a:solidFill>
                <a:latin typeface="Helvetica Neue"/>
                <a:ea typeface="Helvetica Neue"/>
                <a:cs typeface="Helvetica Neue"/>
              </a:rPr>
              <a:t>DM @travelframe.vn to plan your Hanoi story.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46CE0-339B-4AA3-B04C-CBD6F2CE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975" b="1">
                <a:solidFill>
                  <a:srgbClr val="FFFFFF">
                    <a:alpha val="72000"/>
                  </a:srgbClr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>
                    <a:alpha val="72000"/>
                  </a:srgbClr>
                </a:solidFill>
                <a:latin typeface="Helvetica Neue"/>
                <a:ea typeface="Helvetica Neue"/>
                <a:cs typeface="Helvetica Neue"/>
              </a:rPr>
              <a:t>SEND THESE DETAILS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5D7A0-F744-484B-A70D-905B2B50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A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300EE-1731-4706-805A-D1B9A524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5048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Preferred 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E2FBC-6EF3-4702-A21F-6D60B97C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24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A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37E9D8-4DE6-4098-8DAA-1B7EEC0E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48225"/>
            <a:ext cx="5048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Number of guests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C4E1E-C28C-4AA4-ACD2-65BA8D7A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A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C9254D-DA92-420A-8770-23AA9856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5048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Package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5FF27-2F10-4A84-9AA1-3BE05F05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A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682F71-B164-4463-AFDE-CB13310C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5048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or two moods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B5F6B0-E6FA-4A0B-AA76-ABE7B0AC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A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A79F9-7A19-4A1A-8203-4A356D44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48400"/>
            <a:ext cx="5048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Hotel or area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77B758-FF86-4210-8B16-66CDC5F1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91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A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7211C6-8722-4777-985A-F09FAD09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5048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Photo, video, or special occasion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68DB8-16A5-4643-AA3F-EF1C5F52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1">
                <a:solidFill>
                  <a:srgbClr val="FFFFFF">
                    <a:alpha val="78000"/>
                  </a:srgbClr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1">
                <a:solidFill>
                  <a:srgbClr val="FFFFFF">
                    <a:alpha val="78000"/>
                  </a:srgbClr>
                </a:solidFill>
                <a:latin typeface="Helvetica Neue"/>
                <a:ea typeface="Helvetica Neue"/>
                <a:cs typeface="Helvetica Neue"/>
              </a:rPr>
              <a:t>Neon gathers along a narrow alley after dark, and the last frames hold a different kind of quiet. Later, when the city is no longer outside your window, those colors can bring back the feeling of being there.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66808B-6E85-4AE4-BF3F-5DFB84B6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4407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750" b="0">
                <a:solidFill>
                  <a:srgbClr val="FFFFFF">
                    <a:alpha val="72000"/>
                  </a:srgbClr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FFFFFF">
                    <a:alpha val="72000"/>
                  </a:srgbClr>
                </a:solidFill>
                <a:latin typeface="Helvetica Neue"/>
                <a:ea typeface="Helvetica Neue"/>
                <a:cs typeface="Helvetica Neue"/>
              </a:rPr>
              <a:t>Pexels photos: Dilara Baran; Thuan Pham; tu nguyen; Tizino Academy; Tripatpal Singh.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C3A0E4-873D-4127-8184-AD91F336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985" y="10330038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189827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2026-09-07T01:52:28.2440000Z</dcterms:created>
  <dcterms:modified xsi:type="dcterms:W3CDTF">2026-09-07T01:52:28.2440000Z</dcterms:modified>
</coreProperties>
</file>